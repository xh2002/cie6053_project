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84" r:id="rId2"/>
    <p:sldId id="283" r:id="rId3"/>
    <p:sldId id="274" r:id="rId4"/>
    <p:sldId id="275" r:id="rId5"/>
    <p:sldId id="285" r:id="rId6"/>
    <p:sldId id="286" r:id="rId7"/>
    <p:sldId id="287" r:id="rId8"/>
    <p:sldId id="288" r:id="rId9"/>
    <p:sldId id="276" r:id="rId10"/>
    <p:sldId id="277" r:id="rId11"/>
    <p:sldId id="278" r:id="rId12"/>
    <p:sldId id="279" r:id="rId13"/>
    <p:sldId id="280" r:id="rId14"/>
    <p:sldId id="281" r:id="rId15"/>
    <p:sldId id="282" r:id="rId1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832" autoAdjust="0"/>
    <p:restoredTop sz="94660"/>
  </p:normalViewPr>
  <p:slideViewPr>
    <p:cSldViewPr snapToGrid="0">
      <p:cViewPr varScale="1">
        <p:scale>
          <a:sx n="91" d="100"/>
          <a:sy n="91" d="100"/>
        </p:scale>
        <p:origin x="91"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t>2025/12/5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F8AE0-121C-2F02-4B89-735028217A2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C8577CD-BE7A-C95E-7E86-8196CA97A7CD}"/>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82838A58-73D2-80AC-AD4F-0705F9AB92EF}"/>
              </a:ext>
            </a:extLst>
          </p:cNvPr>
          <p:cNvSpPr>
            <a:spLocks noGrp="1"/>
          </p:cNvSpPr>
          <p:nvPr>
            <p:ph type="body" idx="3"/>
          </p:nvPr>
        </p:nvSpPr>
        <p:spPr/>
        <p:txBody>
          <a:bodyPr/>
          <a:lstStyle/>
          <a:p>
            <a:r>
              <a:rPr lang="zh-CN" altLang="en-US"/>
              <a:t>透明度与信任</a:t>
            </a:r>
          </a:p>
          <a:p>
            <a:endParaRPr lang="en-US" altLang="zh-CN"/>
          </a:p>
          <a:p>
            <a:r>
              <a:rPr lang="zh-CN" altLang="en-US"/>
              <a:t>实现完全透明的关键障碍是什么？</a:t>
            </a:r>
          </a:p>
          <a:p>
            <a:endParaRPr lang="en-US" altLang="zh-CN"/>
          </a:p>
          <a:p>
            <a:r>
              <a:rPr lang="zh-CN" altLang="en-US"/>
              <a:t>透明度服务如何增强安全性和可信度？</a:t>
            </a:r>
          </a:p>
          <a:p>
            <a:endParaRPr lang="en-US" altLang="zh-CN"/>
          </a:p>
          <a:p>
            <a:r>
              <a:rPr lang="zh-CN" altLang="en-US"/>
              <a:t>透明度注册机构如何提供可靠的日志？</a:t>
            </a:r>
          </a:p>
        </p:txBody>
      </p:sp>
    </p:spTree>
    <p:extLst>
      <p:ext uri="{BB962C8B-B14F-4D97-AF65-F5344CB8AC3E}">
        <p14:creationId xmlns:p14="http://schemas.microsoft.com/office/powerpoint/2010/main" val="1832360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61CD13-8EA1-E2DD-8298-11675D8E6F1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8A41BB6-44A2-A593-33C9-57507224E681}"/>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97B867D3-EA00-CC67-4EF9-12CC4E6E0DEE}"/>
              </a:ext>
            </a:extLst>
          </p:cNvPr>
          <p:cNvSpPr>
            <a:spLocks noGrp="1"/>
          </p:cNvSpPr>
          <p:nvPr>
            <p:ph type="body" idx="3"/>
          </p:nvPr>
        </p:nvSpPr>
        <p:spPr/>
        <p:txBody>
          <a:bodyPr/>
          <a:lstStyle/>
          <a:p>
            <a:r>
              <a:rPr lang="zh-CN" altLang="en-US"/>
              <a:t>透明度与信任</a:t>
            </a:r>
          </a:p>
          <a:p>
            <a:endParaRPr lang="en-US" altLang="zh-CN"/>
          </a:p>
          <a:p>
            <a:r>
              <a:rPr lang="zh-CN" altLang="en-US"/>
              <a:t>实现完全透明的关键障碍是什么？</a:t>
            </a:r>
          </a:p>
          <a:p>
            <a:endParaRPr lang="en-US" altLang="zh-CN"/>
          </a:p>
          <a:p>
            <a:r>
              <a:rPr lang="zh-CN" altLang="en-US"/>
              <a:t>透明度服务如何增强安全性和可信度？</a:t>
            </a:r>
          </a:p>
          <a:p>
            <a:endParaRPr lang="en-US" altLang="zh-CN"/>
          </a:p>
          <a:p>
            <a:r>
              <a:rPr lang="zh-CN" altLang="en-US"/>
              <a:t>透明度注册机构如何提供可靠的日志？</a:t>
            </a:r>
          </a:p>
        </p:txBody>
      </p:sp>
    </p:spTree>
    <p:extLst>
      <p:ext uri="{BB962C8B-B14F-4D97-AF65-F5344CB8AC3E}">
        <p14:creationId xmlns:p14="http://schemas.microsoft.com/office/powerpoint/2010/main" val="1929739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透明度与信任</a:t>
            </a:r>
          </a:p>
          <a:p>
            <a:endParaRPr lang="en-US" altLang="zh-CN"/>
          </a:p>
          <a:p>
            <a:r>
              <a:rPr lang="zh-CN" altLang="en-US"/>
              <a:t>实现完全透明的关键障碍是什么？</a:t>
            </a:r>
          </a:p>
          <a:p>
            <a:endParaRPr lang="en-US" altLang="zh-CN"/>
          </a:p>
          <a:p>
            <a:r>
              <a:rPr lang="zh-CN" altLang="en-US"/>
              <a:t>透明度服务如何增强安全性和可信度？</a:t>
            </a:r>
          </a:p>
          <a:p>
            <a:endParaRPr lang="en-US" altLang="zh-CN"/>
          </a:p>
          <a:p>
            <a:r>
              <a:rPr lang="zh-CN" altLang="en-US"/>
              <a:t>透明度注册机构如何提供可靠的日志？</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透明度与信任</a:t>
            </a:r>
          </a:p>
          <a:p>
            <a:endParaRPr lang="en-US" altLang="zh-CN"/>
          </a:p>
          <a:p>
            <a:r>
              <a:rPr lang="zh-CN" altLang="en-US"/>
              <a:t>实现完全透明的关键障碍是什么？</a:t>
            </a:r>
          </a:p>
          <a:p>
            <a:endParaRPr lang="en-US" altLang="zh-CN"/>
          </a:p>
          <a:p>
            <a:r>
              <a:rPr lang="zh-CN" altLang="en-US"/>
              <a:t>透明度服务如何增强安全性和可信度？</a:t>
            </a:r>
          </a:p>
          <a:p>
            <a:endParaRPr lang="en-US" altLang="zh-CN"/>
          </a:p>
          <a:p>
            <a:r>
              <a:rPr lang="zh-CN" altLang="en-US"/>
              <a:t>透明度注册机构如何提供可靠的日志？</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44B48-545A-94FE-909D-D093B828FE0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2A8185F-897E-89F9-3F27-96362E1BFD8F}"/>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F26AF1E9-2D43-DAFD-FC80-F251EDEA8B88}"/>
              </a:ext>
            </a:extLst>
          </p:cNvPr>
          <p:cNvSpPr>
            <a:spLocks noGrp="1"/>
          </p:cNvSpPr>
          <p:nvPr>
            <p:ph type="body" idx="3"/>
          </p:nvPr>
        </p:nvSpPr>
        <p:spPr/>
        <p:txBody>
          <a:bodyPr/>
          <a:lstStyle/>
          <a:p>
            <a:r>
              <a:rPr lang="zh-CN" altLang="en-US"/>
              <a:t>透明度与信任</a:t>
            </a:r>
          </a:p>
          <a:p>
            <a:endParaRPr lang="en-US" altLang="zh-CN"/>
          </a:p>
          <a:p>
            <a:r>
              <a:rPr lang="zh-CN" altLang="en-US"/>
              <a:t>实现完全透明的关键障碍是什么？</a:t>
            </a:r>
          </a:p>
          <a:p>
            <a:endParaRPr lang="en-US" altLang="zh-CN"/>
          </a:p>
          <a:p>
            <a:r>
              <a:rPr lang="zh-CN" altLang="en-US"/>
              <a:t>透明度服务如何增强安全性和可信度？</a:t>
            </a:r>
          </a:p>
          <a:p>
            <a:endParaRPr lang="en-US" altLang="zh-CN"/>
          </a:p>
          <a:p>
            <a:r>
              <a:rPr lang="zh-CN" altLang="en-US"/>
              <a:t>透明度注册机构如何提供可靠的日志？</a:t>
            </a:r>
          </a:p>
        </p:txBody>
      </p:sp>
    </p:spTree>
    <p:extLst>
      <p:ext uri="{BB962C8B-B14F-4D97-AF65-F5344CB8AC3E}">
        <p14:creationId xmlns:p14="http://schemas.microsoft.com/office/powerpoint/2010/main" val="28737059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200ED7-44F0-FEE5-BD08-E9B952A06DB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49C9143-32B1-9021-4228-4F590775F5EB}"/>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A5525CEB-0F96-F6A4-766C-9D333F313BD5}"/>
              </a:ext>
            </a:extLst>
          </p:cNvPr>
          <p:cNvSpPr>
            <a:spLocks noGrp="1"/>
          </p:cNvSpPr>
          <p:nvPr>
            <p:ph type="body" idx="3"/>
          </p:nvPr>
        </p:nvSpPr>
        <p:spPr/>
        <p:txBody>
          <a:bodyPr/>
          <a:lstStyle/>
          <a:p>
            <a:r>
              <a:rPr lang="zh-CN" altLang="en-US"/>
              <a:t>透明度与信任</a:t>
            </a:r>
          </a:p>
          <a:p>
            <a:endParaRPr lang="en-US" altLang="zh-CN"/>
          </a:p>
          <a:p>
            <a:r>
              <a:rPr lang="zh-CN" altLang="en-US"/>
              <a:t>实现完全透明的关键障碍是什么？</a:t>
            </a:r>
          </a:p>
          <a:p>
            <a:endParaRPr lang="en-US" altLang="zh-CN"/>
          </a:p>
          <a:p>
            <a:r>
              <a:rPr lang="zh-CN" altLang="en-US"/>
              <a:t>透明度服务如何增强安全性和可信度？</a:t>
            </a:r>
          </a:p>
          <a:p>
            <a:endParaRPr lang="en-US" altLang="zh-CN"/>
          </a:p>
          <a:p>
            <a:r>
              <a:rPr lang="zh-CN" altLang="en-US"/>
              <a:t>透明度注册机构如何提供可靠的日志？</a:t>
            </a:r>
          </a:p>
        </p:txBody>
      </p:sp>
    </p:spTree>
    <p:extLst>
      <p:ext uri="{BB962C8B-B14F-4D97-AF65-F5344CB8AC3E}">
        <p14:creationId xmlns:p14="http://schemas.microsoft.com/office/powerpoint/2010/main" val="36707078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C7685-11DC-7A59-3492-87D7579F535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135DC23-946B-332D-A60E-9D3FEB63925A}"/>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1DE36F0B-8006-A9EF-CFE1-85AB6BA19904}"/>
              </a:ext>
            </a:extLst>
          </p:cNvPr>
          <p:cNvSpPr>
            <a:spLocks noGrp="1"/>
          </p:cNvSpPr>
          <p:nvPr>
            <p:ph type="body" idx="3"/>
          </p:nvPr>
        </p:nvSpPr>
        <p:spPr/>
        <p:txBody>
          <a:bodyPr/>
          <a:lstStyle/>
          <a:p>
            <a:r>
              <a:rPr lang="zh-CN" altLang="en-US"/>
              <a:t>透明度与信任</a:t>
            </a:r>
          </a:p>
          <a:p>
            <a:endParaRPr lang="en-US" altLang="zh-CN"/>
          </a:p>
          <a:p>
            <a:r>
              <a:rPr lang="zh-CN" altLang="en-US"/>
              <a:t>实现完全透明的关键障碍是什么？</a:t>
            </a:r>
          </a:p>
          <a:p>
            <a:endParaRPr lang="en-US" altLang="zh-CN"/>
          </a:p>
          <a:p>
            <a:r>
              <a:rPr lang="zh-CN" altLang="en-US"/>
              <a:t>透明度服务如何增强安全性和可信度？</a:t>
            </a:r>
          </a:p>
          <a:p>
            <a:endParaRPr lang="en-US" altLang="zh-CN"/>
          </a:p>
          <a:p>
            <a:r>
              <a:rPr lang="zh-CN" altLang="en-US"/>
              <a:t>透明度注册机构如何提供可靠的日志？</a:t>
            </a:r>
          </a:p>
        </p:txBody>
      </p:sp>
    </p:spTree>
    <p:extLst>
      <p:ext uri="{BB962C8B-B14F-4D97-AF65-F5344CB8AC3E}">
        <p14:creationId xmlns:p14="http://schemas.microsoft.com/office/powerpoint/2010/main" val="4408856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57829-1D15-82F2-5E89-9907A4DD19A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6C862DB-7483-B7BE-0019-54E7F03AA36E}"/>
              </a:ext>
            </a:extLst>
          </p:cNvPr>
          <p:cNvSpPr>
            <a:spLocks noGrp="1" noRot="1" noChangeAspect="1"/>
          </p:cNvSpPr>
          <p:nvPr>
            <p:ph type="sldImg" idx="2"/>
          </p:nvPr>
        </p:nvSpPr>
        <p:spPr/>
      </p:sp>
      <p:sp>
        <p:nvSpPr>
          <p:cNvPr id="3" name="文本占位符 2">
            <a:extLst>
              <a:ext uri="{FF2B5EF4-FFF2-40B4-BE49-F238E27FC236}">
                <a16:creationId xmlns:a16="http://schemas.microsoft.com/office/drawing/2014/main" id="{7280C31E-E9F3-EF1D-6348-6623B0C044F8}"/>
              </a:ext>
            </a:extLst>
          </p:cNvPr>
          <p:cNvSpPr>
            <a:spLocks noGrp="1"/>
          </p:cNvSpPr>
          <p:nvPr>
            <p:ph type="body" idx="3"/>
          </p:nvPr>
        </p:nvSpPr>
        <p:spPr/>
        <p:txBody>
          <a:bodyPr/>
          <a:lstStyle/>
          <a:p>
            <a:r>
              <a:rPr lang="zh-CN" altLang="en-US"/>
              <a:t>透明度与信任</a:t>
            </a:r>
          </a:p>
          <a:p>
            <a:endParaRPr lang="en-US" altLang="zh-CN"/>
          </a:p>
          <a:p>
            <a:r>
              <a:rPr lang="zh-CN" altLang="en-US"/>
              <a:t>实现完全透明的关键障碍是什么？</a:t>
            </a:r>
          </a:p>
          <a:p>
            <a:endParaRPr lang="en-US" altLang="zh-CN"/>
          </a:p>
          <a:p>
            <a:r>
              <a:rPr lang="zh-CN" altLang="en-US"/>
              <a:t>透明度服务如何增强安全性和可信度？</a:t>
            </a:r>
          </a:p>
          <a:p>
            <a:endParaRPr lang="en-US" altLang="zh-CN"/>
          </a:p>
          <a:p>
            <a:r>
              <a:rPr lang="zh-CN" altLang="en-US"/>
              <a:t>透明度注册机构如何提供可靠的日志？</a:t>
            </a:r>
          </a:p>
        </p:txBody>
      </p:sp>
    </p:spTree>
    <p:extLst>
      <p:ext uri="{BB962C8B-B14F-4D97-AF65-F5344CB8AC3E}">
        <p14:creationId xmlns:p14="http://schemas.microsoft.com/office/powerpoint/2010/main" val="25492108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透明度与信任</a:t>
            </a:r>
          </a:p>
          <a:p>
            <a:endParaRPr lang="en-US" altLang="zh-CN"/>
          </a:p>
          <a:p>
            <a:r>
              <a:rPr lang="zh-CN" altLang="en-US"/>
              <a:t>实现完全透明的关键障碍是什么？</a:t>
            </a:r>
          </a:p>
          <a:p>
            <a:endParaRPr lang="en-US" altLang="zh-CN"/>
          </a:p>
          <a:p>
            <a:r>
              <a:rPr lang="zh-CN" altLang="en-US"/>
              <a:t>透明度服务如何增强安全性和可信度？</a:t>
            </a:r>
          </a:p>
          <a:p>
            <a:endParaRPr lang="en-US" altLang="zh-CN"/>
          </a:p>
          <a:p>
            <a:r>
              <a:rPr lang="zh-CN" altLang="en-US"/>
              <a:t>透明度注册机构如何提供可靠的日志？</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透明度与信任</a:t>
            </a:r>
          </a:p>
          <a:p>
            <a:endParaRPr lang="en-US" altLang="zh-CN"/>
          </a:p>
          <a:p>
            <a:r>
              <a:rPr lang="zh-CN" altLang="en-US"/>
              <a:t>实现完全透明的关键障碍是什么？</a:t>
            </a:r>
          </a:p>
          <a:p>
            <a:endParaRPr lang="en-US" altLang="zh-CN"/>
          </a:p>
          <a:p>
            <a:r>
              <a:rPr lang="zh-CN" altLang="en-US"/>
              <a:t>透明度服务如何增强安全性和可信度？</a:t>
            </a:r>
          </a:p>
          <a:p>
            <a:endParaRPr lang="en-US" altLang="zh-CN"/>
          </a:p>
          <a:p>
            <a:r>
              <a:rPr lang="zh-CN" altLang="en-US"/>
              <a:t>透明度注册机构如何提供可靠的日志？</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透明度与信任</a:t>
            </a:r>
          </a:p>
          <a:p>
            <a:endParaRPr lang="en-US" altLang="zh-CN"/>
          </a:p>
          <a:p>
            <a:r>
              <a:rPr lang="zh-CN" altLang="en-US"/>
              <a:t>实现完全透明的关键障碍是什么？</a:t>
            </a:r>
          </a:p>
          <a:p>
            <a:endParaRPr lang="en-US" altLang="zh-CN"/>
          </a:p>
          <a:p>
            <a:r>
              <a:rPr lang="zh-CN" altLang="en-US"/>
              <a:t>透明度服务如何增强安全性和可信度？</a:t>
            </a:r>
          </a:p>
          <a:p>
            <a:endParaRPr lang="en-US" altLang="zh-CN"/>
          </a:p>
          <a:p>
            <a:r>
              <a:rPr lang="zh-CN" altLang="en-US"/>
              <a:t>透明度注册机构如何提供可靠的日志？</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透明度与信任</a:t>
            </a:r>
          </a:p>
          <a:p>
            <a:endParaRPr lang="en-US" altLang="zh-CN"/>
          </a:p>
          <a:p>
            <a:r>
              <a:rPr lang="zh-CN" altLang="en-US"/>
              <a:t>实现完全透明的关键障碍是什么？</a:t>
            </a:r>
          </a:p>
          <a:p>
            <a:endParaRPr lang="en-US" altLang="zh-CN"/>
          </a:p>
          <a:p>
            <a:r>
              <a:rPr lang="zh-CN" altLang="en-US"/>
              <a:t>透明度服务如何增强安全性和可信度？</a:t>
            </a:r>
          </a:p>
          <a:p>
            <a:endParaRPr lang="en-US" altLang="zh-CN"/>
          </a:p>
          <a:p>
            <a:r>
              <a:rPr lang="zh-CN" altLang="en-US"/>
              <a:t>透明度注册机构如何提供可靠的日志？</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透明度与信任</a:t>
            </a:r>
          </a:p>
          <a:p>
            <a:endParaRPr lang="en-US" altLang="zh-CN"/>
          </a:p>
          <a:p>
            <a:r>
              <a:rPr lang="zh-CN" altLang="en-US"/>
              <a:t>实现完全透明的关键障碍是什么？</a:t>
            </a:r>
          </a:p>
          <a:p>
            <a:endParaRPr lang="en-US" altLang="zh-CN"/>
          </a:p>
          <a:p>
            <a:r>
              <a:rPr lang="zh-CN" altLang="en-US"/>
              <a:t>透明度服务如何增强安全性和可信度？</a:t>
            </a:r>
          </a:p>
          <a:p>
            <a:endParaRPr lang="en-US" altLang="zh-CN"/>
          </a:p>
          <a:p>
            <a:r>
              <a:rPr lang="zh-CN" altLang="en-US"/>
              <a:t>透明度注册机构如何提供可靠的日志？</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透明度与信任</a:t>
            </a:r>
          </a:p>
          <a:p>
            <a:endParaRPr lang="en-US" altLang="zh-CN"/>
          </a:p>
          <a:p>
            <a:r>
              <a:rPr lang="zh-CN" altLang="en-US"/>
              <a:t>实现完全透明的关键障碍是什么？</a:t>
            </a:r>
          </a:p>
          <a:p>
            <a:endParaRPr lang="en-US" altLang="zh-CN"/>
          </a:p>
          <a:p>
            <a:r>
              <a:rPr lang="zh-CN" altLang="en-US"/>
              <a:t>透明度服务如何增强安全性和可信度？</a:t>
            </a:r>
          </a:p>
          <a:p>
            <a:endParaRPr lang="en-US" altLang="zh-CN"/>
          </a:p>
          <a:p>
            <a:r>
              <a:rPr lang="zh-CN" altLang="en-US"/>
              <a:t>透明度注册机构如何提供可靠的日志？</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zh-CN" altLang="en-US"/>
              <a:t>透明度与信任</a:t>
            </a:r>
          </a:p>
          <a:p>
            <a:endParaRPr lang="en-US" altLang="zh-CN"/>
          </a:p>
          <a:p>
            <a:r>
              <a:rPr lang="zh-CN" altLang="en-US"/>
              <a:t>实现完全透明的关键障碍是什么？</a:t>
            </a:r>
          </a:p>
          <a:p>
            <a:endParaRPr lang="en-US" altLang="zh-CN"/>
          </a:p>
          <a:p>
            <a:r>
              <a:rPr lang="zh-CN" altLang="en-US"/>
              <a:t>透明度服务如何增强安全性和可信度？</a:t>
            </a:r>
          </a:p>
          <a:p>
            <a:endParaRPr lang="en-US" altLang="zh-CN"/>
          </a:p>
          <a:p>
            <a:r>
              <a:rPr lang="zh-CN" altLang="en-US"/>
              <a:t>透明度注册机构如何提供可靠的日志？</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2025/12/5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2025/12/5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2025/12/5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2025/12/5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D997B5FA-0921-464F-AAE1-844C04324D75}" type="datetimeFigureOut">
              <a:rPr lang="zh-CN" altLang="en-US" smtClean="0"/>
              <a:t>2025/12/5</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997B5FA-0921-464F-AAE1-844C04324D75}" type="datetimeFigureOut">
              <a:rPr lang="zh-CN" altLang="en-US" smtClean="0"/>
              <a:t>2025/12/5</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t>2025/12/5</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2025/12/5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997B5FA-0921-464F-AAE1-844C04324D75}" type="datetimeFigureOut">
              <a:rPr lang="zh-CN" altLang="en-US" smtClean="0"/>
              <a:t>2025/12/5</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2025/12/5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D997B5FA-0921-464F-AAE1-844C04324D75}" type="datetimeFigureOut">
              <a:rPr lang="zh-CN" altLang="en-US" smtClean="0"/>
              <a:t>2025/12/5</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2025/12/5</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4BA5B-3C39-3ED7-A22A-E9290B189B2A}"/>
            </a:ext>
          </a:extLst>
        </p:cNvPr>
        <p:cNvGrpSpPr/>
        <p:nvPr/>
      </p:nvGrpSpPr>
      <p:grpSpPr>
        <a:xfrm>
          <a:off x="0" y="0"/>
          <a:ext cx="0" cy="0"/>
          <a:chOff x="0" y="0"/>
          <a:chExt cx="0" cy="0"/>
        </a:xfrm>
      </p:grpSpPr>
      <p:sp>
        <p:nvSpPr>
          <p:cNvPr id="4" name="Goals of the course">
            <a:extLst>
              <a:ext uri="{FF2B5EF4-FFF2-40B4-BE49-F238E27FC236}">
                <a16:creationId xmlns:a16="http://schemas.microsoft.com/office/drawing/2014/main" id="{C1BF4C09-C8A6-EBFD-7114-345A0713FF3B}"/>
              </a:ext>
            </a:extLst>
          </p:cNvPr>
          <p:cNvSpPr txBox="1">
            <a:spLocks noGrp="1"/>
          </p:cNvSpPr>
          <p:nvPr/>
        </p:nvSpPr>
        <p:spPr>
          <a:xfrm>
            <a:off x="288290" y="273685"/>
            <a:ext cx="11609705" cy="1000760"/>
          </a:xfrm>
          <a:prstGeom prst="rect">
            <a:avLst/>
          </a:prstGeom>
          <a:ln w="12700">
            <a:miter lim="400000"/>
          </a:ln>
        </p:spPr>
        <p:txBody>
          <a:bodyPr lIns="0" tIns="0" rIns="0" bIns="0"/>
          <a:lstStyle>
            <a:lvl1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defRPr>
            </a:lvl1pPr>
            <a:lvl2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2pPr>
            <a:lvl3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3pPr>
            <a:lvl4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4pPr>
            <a:lvl5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5pPr>
            <a:lvl6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6pPr>
            <a:lvl7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7pPr>
            <a:lvl8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8pPr>
            <a:lvl9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9pPr>
          </a:lstStyle>
          <a:p>
            <a:r>
              <a:rPr lang="en-US" altLang="zh-CN" sz="3600" dirty="0">
                <a:ea typeface="宋体" pitchFamily="2" charset="-122"/>
              </a:rPr>
              <a:t>Why RISC-V Deserves Attention?</a:t>
            </a:r>
          </a:p>
        </p:txBody>
      </p:sp>
      <p:sp>
        <p:nvSpPr>
          <p:cNvPr id="5" name="幻灯片编号">
            <a:extLst>
              <a:ext uri="{FF2B5EF4-FFF2-40B4-BE49-F238E27FC236}">
                <a16:creationId xmlns:a16="http://schemas.microsoft.com/office/drawing/2014/main" id="{80F8E8B7-E4FD-2CAD-1465-1F3D3C2B2589}"/>
              </a:ext>
            </a:extLst>
          </p:cNvPr>
          <p:cNvSpPr txBox="1">
            <a:spLocks noGrp="1"/>
          </p:cNvSpPr>
          <p:nvPr/>
        </p:nvSpPr>
        <p:spPr>
          <a:xfrm>
            <a:off x="10467260" y="6187968"/>
            <a:ext cx="504001" cy="177801"/>
          </a:xfrm>
          <a:prstGeom prst="rect">
            <a:avLst/>
          </a:prstGeom>
          <a:ln w="12700">
            <a:miter lim="400000"/>
          </a:ln>
        </p:spPr>
        <p:txBody>
          <a:bodyPr lIns="0" tIns="0" rIns="0" bIns="0" anchor="ctr">
            <a:spAutoFit/>
          </a:bodyPr>
          <a:lstStyle>
            <a:lvl1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defRPr>
            </a:lvl1pPr>
            <a:lvl2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2pPr>
            <a:lvl3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3pPr>
            <a:lvl4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4pPr>
            <a:lvl5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5pPr>
            <a:lvl6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6pPr>
            <a:lvl7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7pPr>
            <a:lvl8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8pPr>
            <a:lvl9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9pPr>
          </a:lstStyle>
          <a:p>
            <a:fld id="{86CB4B4D-7CA3-9044-876B-883B54F8677D}" type="slidenum">
              <a:rPr/>
              <a:t>1</a:t>
            </a:fld>
            <a:endParaRPr/>
          </a:p>
        </p:txBody>
      </p:sp>
      <p:sp>
        <p:nvSpPr>
          <p:cNvPr id="2" name="文本框 1">
            <a:extLst>
              <a:ext uri="{FF2B5EF4-FFF2-40B4-BE49-F238E27FC236}">
                <a16:creationId xmlns:a16="http://schemas.microsoft.com/office/drawing/2014/main" id="{E16EB780-A06B-3D21-79AE-8AAB11DA08A5}"/>
              </a:ext>
            </a:extLst>
          </p:cNvPr>
          <p:cNvSpPr txBox="1"/>
          <p:nvPr/>
        </p:nvSpPr>
        <p:spPr>
          <a:xfrm>
            <a:off x="288290" y="1546860"/>
            <a:ext cx="11609070" cy="5003800"/>
          </a:xfrm>
          <a:prstGeom prst="rect">
            <a:avLst/>
          </a:prstGeom>
          <a:noFill/>
        </p:spPr>
        <p:txBody>
          <a:bodyPr wrap="square" rtlCol="0" anchor="t">
            <a:noAutofit/>
          </a:bodyPr>
          <a:lstStyle/>
          <a:p>
            <a:pPr algn="just"/>
            <a:r>
              <a:rPr lang="en-US" altLang="zh-CN" sz="2400" dirty="0"/>
              <a:t>It is the world's first open-source and free Instruction Set Architecture (ISA), which has been applied in 13 billion chips on the market so far, covering a collaborative ecosystem of 70 countries and more than 4,200 member units.</a:t>
            </a:r>
          </a:p>
          <a:p>
            <a:pPr algn="just"/>
            <a:endParaRPr lang="en-US" altLang="zh-CN" sz="2400" dirty="0"/>
          </a:p>
          <a:p>
            <a:pPr algn="just"/>
            <a:r>
              <a:rPr lang="en-US" altLang="zh-CN" sz="2400" b="1" dirty="0"/>
              <a:t>Core Value</a:t>
            </a:r>
            <a:r>
              <a:rPr lang="zh-CN" altLang="en-US" sz="2400" b="1" dirty="0"/>
              <a:t>：</a:t>
            </a:r>
            <a:endParaRPr lang="en-US" altLang="zh-CN" sz="2400" b="1" dirty="0"/>
          </a:p>
          <a:p>
            <a:pPr algn="just"/>
            <a:r>
              <a:rPr lang="en-US" altLang="zh-CN" sz="2400" dirty="0"/>
              <a:t>With "open-source freedom + modular flexibility" as its core, it provides a low-cost and highly customized solution for chip design, and is regarded as a key force to "break the deadlock" in the semiconductor industry.</a:t>
            </a:r>
          </a:p>
        </p:txBody>
      </p:sp>
    </p:spTree>
    <p:extLst>
      <p:ext uri="{BB962C8B-B14F-4D97-AF65-F5344CB8AC3E}">
        <p14:creationId xmlns:p14="http://schemas.microsoft.com/office/powerpoint/2010/main" val="1677072246"/>
      </p:ext>
    </p:extLst>
  </p:cSld>
  <p:clrMapOvr>
    <a:masterClrMapping/>
  </p:clrMapOvr>
  <mc:AlternateContent xmlns:mc="http://schemas.openxmlformats.org/markup-compatibility/2006" xmlns:p14="http://schemas.microsoft.com/office/powerpoint/2010/main">
    <mc:Choice Requires="p14">
      <p:transition spd="slow" p14:dur="1500" advClick="0" advTm="0"/>
    </mc:Choice>
    <mc:Fallback xmlns="">
      <p:transition spd="slow" advClick="0" advTm="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96F14-1F1E-C9AF-CAA9-05E61B777ADB}"/>
            </a:ext>
          </a:extLst>
        </p:cNvPr>
        <p:cNvGrpSpPr/>
        <p:nvPr/>
      </p:nvGrpSpPr>
      <p:grpSpPr>
        <a:xfrm>
          <a:off x="0" y="0"/>
          <a:ext cx="0" cy="0"/>
          <a:chOff x="0" y="0"/>
          <a:chExt cx="0" cy="0"/>
        </a:xfrm>
      </p:grpSpPr>
      <p:sp>
        <p:nvSpPr>
          <p:cNvPr id="4" name="Goals of the course">
            <a:extLst>
              <a:ext uri="{FF2B5EF4-FFF2-40B4-BE49-F238E27FC236}">
                <a16:creationId xmlns:a16="http://schemas.microsoft.com/office/drawing/2014/main" id="{8661F3E2-8AFD-E8C8-E575-E3AA9EE98821}"/>
              </a:ext>
            </a:extLst>
          </p:cNvPr>
          <p:cNvSpPr txBox="1">
            <a:spLocks noGrp="1"/>
          </p:cNvSpPr>
          <p:nvPr/>
        </p:nvSpPr>
        <p:spPr>
          <a:xfrm>
            <a:off x="288290" y="273685"/>
            <a:ext cx="11609705" cy="1000760"/>
          </a:xfrm>
          <a:prstGeom prst="rect">
            <a:avLst/>
          </a:prstGeom>
          <a:ln w="12700">
            <a:miter lim="400000"/>
          </a:ln>
        </p:spPr>
        <p:txBody>
          <a:bodyPr lIns="0" tIns="0" rIns="0" bIns="0"/>
          <a:lstStyle>
            <a:lvl1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defRPr>
            </a:lvl1pPr>
            <a:lvl2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2pPr>
            <a:lvl3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3pPr>
            <a:lvl4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4pPr>
            <a:lvl5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5pPr>
            <a:lvl6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6pPr>
            <a:lvl7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7pPr>
            <a:lvl8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8pPr>
            <a:lvl9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9pPr>
          </a:lstStyle>
          <a:p>
            <a:r>
              <a:rPr lang="en-US" altLang="zh-CN" sz="3600">
                <a:ea typeface="宋体" pitchFamily="2" charset="-122"/>
              </a:rPr>
              <a:t>Development History</a:t>
            </a:r>
            <a:br>
              <a:rPr lang="en-US" altLang="zh-CN" sz="3600">
                <a:ea typeface="宋体" pitchFamily="2" charset="-122"/>
              </a:rPr>
            </a:br>
            <a:r>
              <a:rPr lang="en-US" altLang="zh-CN" sz="2800">
                <a:sym typeface="+mn-ea"/>
              </a:rPr>
              <a:t>Predecessor: Five Generations of RISC Exploration at Berkeley</a:t>
            </a:r>
            <a:endParaRPr lang="en-US" altLang="zh-CN" sz="3600"/>
          </a:p>
          <a:p>
            <a:endParaRPr lang="en-US" altLang="zh-CN" sz="3600">
              <a:ea typeface="宋体" pitchFamily="2" charset="-122"/>
            </a:endParaRPr>
          </a:p>
        </p:txBody>
      </p:sp>
      <p:sp>
        <p:nvSpPr>
          <p:cNvPr id="5" name="幻灯片编号">
            <a:extLst>
              <a:ext uri="{FF2B5EF4-FFF2-40B4-BE49-F238E27FC236}">
                <a16:creationId xmlns:a16="http://schemas.microsoft.com/office/drawing/2014/main" id="{DAD2E3B0-761C-A15C-7801-1552DF2D4080}"/>
              </a:ext>
            </a:extLst>
          </p:cNvPr>
          <p:cNvSpPr txBox="1">
            <a:spLocks noGrp="1"/>
          </p:cNvSpPr>
          <p:nvPr/>
        </p:nvSpPr>
        <p:spPr>
          <a:xfrm>
            <a:off x="10467260" y="6187968"/>
            <a:ext cx="504001" cy="177801"/>
          </a:xfrm>
          <a:prstGeom prst="rect">
            <a:avLst/>
          </a:prstGeom>
          <a:ln w="12700">
            <a:miter lim="400000"/>
          </a:ln>
        </p:spPr>
        <p:txBody>
          <a:bodyPr lIns="0" tIns="0" rIns="0" bIns="0" anchor="ctr">
            <a:spAutoFit/>
          </a:bodyPr>
          <a:lstStyle>
            <a:lvl1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defRPr>
            </a:lvl1pPr>
            <a:lvl2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2pPr>
            <a:lvl3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3pPr>
            <a:lvl4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4pPr>
            <a:lvl5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5pPr>
            <a:lvl6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6pPr>
            <a:lvl7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7pPr>
            <a:lvl8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8pPr>
            <a:lvl9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9pPr>
          </a:lstStyle>
          <a:p>
            <a:fld id="{86CB4B4D-7CA3-9044-876B-883B54F8677D}" type="slidenum">
              <a:rPr/>
              <a:t>2</a:t>
            </a:fld>
            <a:endParaRPr/>
          </a:p>
        </p:txBody>
      </p:sp>
      <p:sp>
        <p:nvSpPr>
          <p:cNvPr id="2" name="文本框 1">
            <a:extLst>
              <a:ext uri="{FF2B5EF4-FFF2-40B4-BE49-F238E27FC236}">
                <a16:creationId xmlns:a16="http://schemas.microsoft.com/office/drawing/2014/main" id="{BE93E6E6-A734-A154-C94B-806F64407E61}"/>
              </a:ext>
            </a:extLst>
          </p:cNvPr>
          <p:cNvSpPr txBox="1"/>
          <p:nvPr/>
        </p:nvSpPr>
        <p:spPr>
          <a:xfrm>
            <a:off x="288290" y="1546860"/>
            <a:ext cx="11609070" cy="5003800"/>
          </a:xfrm>
          <a:prstGeom prst="rect">
            <a:avLst/>
          </a:prstGeom>
          <a:noFill/>
        </p:spPr>
        <p:txBody>
          <a:bodyPr wrap="square" rtlCol="0" anchor="t">
            <a:noAutofit/>
          </a:bodyPr>
          <a:lstStyle/>
          <a:p>
            <a:pPr algn="just"/>
            <a:r>
              <a:rPr lang="en-US" altLang="zh-CN" sz="2400"/>
              <a:t>RISC-V was not born out of thin air, but rather the culmination of nearly 40 years of RISC technology accumulation at the University of California, Berkeley. Under the leadership of Professor David Patterson, four generations of academic RISC architectures have been developed, laying the foundation for the fifth generation products: </a:t>
            </a:r>
          </a:p>
          <a:p>
            <a:pPr marL="342900" indent="-342900" algn="just">
              <a:buFont typeface="Wingdings" panose="05000000000000000000" charset="0"/>
              <a:buChar char=""/>
            </a:pPr>
            <a:r>
              <a:rPr lang="en-US" altLang="zh-CN" sz="2400" b="1"/>
              <a:t>RISC-I in 1981</a:t>
            </a:r>
            <a:r>
              <a:rPr lang="en-US" altLang="zh-CN" sz="2400"/>
              <a:t>: First validation of the feasibility of "simplified instruction + optimized compiler" with only 16 general-purpose registers.</a:t>
            </a:r>
          </a:p>
          <a:p>
            <a:pPr marL="342900" indent="-342900" algn="just">
              <a:buFont typeface="Wingdings" panose="05000000000000000000" charset="0"/>
              <a:buChar char=""/>
            </a:pPr>
            <a:r>
              <a:rPr lang="en-US" altLang="zh-CN" sz="2400" b="1"/>
              <a:t>RISC-II in 1983</a:t>
            </a:r>
            <a:r>
              <a:rPr lang="en-US" altLang="zh-CN" sz="2400"/>
              <a:t>: Support UNIX system, expand to 32 registers, optimize pipeline design.</a:t>
            </a:r>
          </a:p>
          <a:p>
            <a:pPr marL="342900" indent="-342900" algn="just">
              <a:buFont typeface="Wingdings" panose="05000000000000000000" charset="0"/>
              <a:buChar char=""/>
            </a:pPr>
            <a:r>
              <a:rPr lang="en-US" altLang="zh-CN" sz="2400" b="1"/>
              <a:t>SOAR in 1984</a:t>
            </a:r>
            <a:r>
              <a:rPr lang="en-US" altLang="zh-CN" sz="2400"/>
              <a:t>: Explore parallel computing, support dual-issue superscalar, introduce separate cache.</a:t>
            </a:r>
          </a:p>
          <a:p>
            <a:pPr marL="342900" indent="-342900" algn="just">
              <a:buFont typeface="Wingdings" panose="05000000000000000000" charset="0"/>
              <a:buChar char=""/>
            </a:pPr>
            <a:r>
              <a:rPr lang="en-US" altLang="zh-CN" sz="2400" b="1"/>
              <a:t>SPUR in 1986</a:t>
            </a:r>
            <a:r>
              <a:rPr lang="en-US" altLang="zh-CN" sz="2400"/>
              <a:t>: Integrated MMU supports virtual memory, optimized for functional languages, and supports multitasking for the first time.</a:t>
            </a:r>
          </a:p>
        </p:txBody>
      </p:sp>
    </p:spTree>
    <p:extLst>
      <p:ext uri="{BB962C8B-B14F-4D97-AF65-F5344CB8AC3E}">
        <p14:creationId xmlns:p14="http://schemas.microsoft.com/office/powerpoint/2010/main" val="2109597639"/>
      </p:ext>
    </p:extLst>
  </p:cSld>
  <p:clrMapOvr>
    <a:masterClrMapping/>
  </p:clrMapOvr>
  <mc:AlternateContent xmlns:mc="http://schemas.openxmlformats.org/markup-compatibility/2006" xmlns:p14="http://schemas.microsoft.com/office/powerpoint/2010/main">
    <mc:Choice Requires="p14">
      <p:transition spd="slow" p14:dur="1500" advClick="0" advTm="0"/>
    </mc:Choice>
    <mc:Fallback xmlns="">
      <p:transition spd="slow" advClick="0" advTm="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als of the course"/>
          <p:cNvSpPr txBox="1">
            <a:spLocks noGrp="1"/>
          </p:cNvSpPr>
          <p:nvPr/>
        </p:nvSpPr>
        <p:spPr>
          <a:xfrm>
            <a:off x="288290" y="273685"/>
            <a:ext cx="11609705" cy="1000760"/>
          </a:xfrm>
          <a:prstGeom prst="rect">
            <a:avLst/>
          </a:prstGeom>
          <a:ln w="12700">
            <a:miter lim="400000"/>
          </a:ln>
        </p:spPr>
        <p:txBody>
          <a:bodyPr lIns="0" tIns="0" rIns="0" bIns="0"/>
          <a:lstStyle>
            <a:lvl1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defRPr>
            </a:lvl1pPr>
            <a:lvl2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2pPr>
            <a:lvl3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3pPr>
            <a:lvl4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4pPr>
            <a:lvl5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5pPr>
            <a:lvl6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6pPr>
            <a:lvl7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7pPr>
            <a:lvl8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8pPr>
            <a:lvl9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9pPr>
          </a:lstStyle>
          <a:p>
            <a:r>
              <a:rPr lang="en-US" altLang="zh-CN" sz="3600">
                <a:ea typeface="宋体" pitchFamily="2" charset="-122"/>
              </a:rPr>
              <a:t>Development History</a:t>
            </a:r>
            <a:br>
              <a:rPr lang="en-US" altLang="zh-CN" sz="3600">
                <a:ea typeface="宋体" pitchFamily="2" charset="-122"/>
              </a:rPr>
            </a:br>
            <a:r>
              <a:rPr lang="en-US" altLang="zh-CN" sz="2800">
                <a:sym typeface="+mn-ea"/>
              </a:rPr>
              <a:t>Predecessor: Five Generations of RISC Exploration at Berkeley</a:t>
            </a:r>
            <a:endParaRPr lang="en-US" altLang="zh-CN" sz="3600"/>
          </a:p>
          <a:p>
            <a:endParaRPr lang="en-US" altLang="zh-CN" sz="3600">
              <a:ea typeface="宋体" pitchFamily="2" charset="-122"/>
            </a:endParaRPr>
          </a:p>
        </p:txBody>
      </p:sp>
      <p:sp>
        <p:nvSpPr>
          <p:cNvPr id="5" name="幻灯片编号"/>
          <p:cNvSpPr txBox="1">
            <a:spLocks noGrp="1"/>
          </p:cNvSpPr>
          <p:nvPr/>
        </p:nvSpPr>
        <p:spPr>
          <a:xfrm>
            <a:off x="10467260" y="6187968"/>
            <a:ext cx="504001" cy="177801"/>
          </a:xfrm>
          <a:prstGeom prst="rect">
            <a:avLst/>
          </a:prstGeom>
          <a:ln w="12700">
            <a:miter lim="400000"/>
          </a:ln>
        </p:spPr>
        <p:txBody>
          <a:bodyPr lIns="0" tIns="0" rIns="0" bIns="0" anchor="ctr">
            <a:spAutoFit/>
          </a:bodyPr>
          <a:lstStyle>
            <a:lvl1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defRPr>
            </a:lvl1pPr>
            <a:lvl2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2pPr>
            <a:lvl3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3pPr>
            <a:lvl4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4pPr>
            <a:lvl5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5pPr>
            <a:lvl6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6pPr>
            <a:lvl7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7pPr>
            <a:lvl8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8pPr>
            <a:lvl9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9pPr>
          </a:lstStyle>
          <a:p>
            <a:fld id="{86CB4B4D-7CA3-9044-876B-883B54F8677D}" type="slidenum">
              <a:rPr/>
              <a:t>3</a:t>
            </a:fld>
            <a:endParaRPr/>
          </a:p>
        </p:txBody>
      </p:sp>
      <p:sp>
        <p:nvSpPr>
          <p:cNvPr id="2" name="文本框 1"/>
          <p:cNvSpPr txBox="1"/>
          <p:nvPr/>
        </p:nvSpPr>
        <p:spPr>
          <a:xfrm>
            <a:off x="288290" y="1546860"/>
            <a:ext cx="11609070" cy="5003800"/>
          </a:xfrm>
          <a:prstGeom prst="rect">
            <a:avLst/>
          </a:prstGeom>
          <a:noFill/>
        </p:spPr>
        <p:txBody>
          <a:bodyPr wrap="square" rtlCol="0" anchor="t">
            <a:noAutofit/>
          </a:bodyPr>
          <a:lstStyle/>
          <a:p>
            <a:pPr algn="just"/>
            <a:r>
              <a:rPr lang="en-US" altLang="zh-CN" sz="2400"/>
              <a:t>RISC-V was not born out of thin air, but rather the culmination of nearly 40 years of RISC technology accumulation at the University of California, Berkeley. Under the leadership of Professor David Patterson, four generations of academic RISC architectures have been developed, laying the foundation for the fifth generation products: </a:t>
            </a:r>
          </a:p>
          <a:p>
            <a:pPr marL="342900" indent="-342900" algn="just">
              <a:buFont typeface="Wingdings" panose="05000000000000000000" charset="0"/>
              <a:buChar char=""/>
            </a:pPr>
            <a:r>
              <a:rPr lang="en-US" altLang="zh-CN" sz="2400" b="1"/>
              <a:t>RISC-I in 1981</a:t>
            </a:r>
            <a:r>
              <a:rPr lang="en-US" altLang="zh-CN" sz="2400"/>
              <a:t>: First validation of the feasibility of "simplified instruction + optimized compiler" with only 16 general-purpose registers.</a:t>
            </a:r>
          </a:p>
          <a:p>
            <a:pPr marL="342900" indent="-342900" algn="just">
              <a:buFont typeface="Wingdings" panose="05000000000000000000" charset="0"/>
              <a:buChar char=""/>
            </a:pPr>
            <a:r>
              <a:rPr lang="en-US" altLang="zh-CN" sz="2400" b="1"/>
              <a:t>RISC-II in 1983</a:t>
            </a:r>
            <a:r>
              <a:rPr lang="en-US" altLang="zh-CN" sz="2400"/>
              <a:t>: Support UNIX system, expand to 32 registers, optimize pipeline design.</a:t>
            </a:r>
          </a:p>
          <a:p>
            <a:pPr marL="342900" indent="-342900" algn="just">
              <a:buFont typeface="Wingdings" panose="05000000000000000000" charset="0"/>
              <a:buChar char=""/>
            </a:pPr>
            <a:r>
              <a:rPr lang="en-US" altLang="zh-CN" sz="2400" b="1"/>
              <a:t>SOAR in 1984</a:t>
            </a:r>
            <a:r>
              <a:rPr lang="en-US" altLang="zh-CN" sz="2400"/>
              <a:t>: Explore parallel computing, support dual-issue superscalar, introduce separate cache.</a:t>
            </a:r>
          </a:p>
          <a:p>
            <a:pPr marL="342900" indent="-342900" algn="just">
              <a:buFont typeface="Wingdings" panose="05000000000000000000" charset="0"/>
              <a:buChar char=""/>
            </a:pPr>
            <a:r>
              <a:rPr lang="en-US" altLang="zh-CN" sz="2400" b="1"/>
              <a:t>SPUR in 1986</a:t>
            </a:r>
            <a:r>
              <a:rPr lang="en-US" altLang="zh-CN" sz="2400"/>
              <a:t>: Integrated MMU supports virtual memory, optimized for functional languages, and supports multitasking for the first time.</a:t>
            </a:r>
          </a:p>
        </p:txBody>
      </p:sp>
    </p:spTree>
  </p:cSld>
  <p:clrMapOvr>
    <a:masterClrMapping/>
  </p:clrMapOvr>
  <mc:AlternateContent xmlns:mc="http://schemas.openxmlformats.org/markup-compatibility/2006" xmlns:p14="http://schemas.microsoft.com/office/powerpoint/2010/main">
    <mc:Choice Requires="p14">
      <p:transition spd="slow" p14:dur="1500" advClick="0" advTm="0"/>
    </mc:Choice>
    <mc:Fallback xmlns="">
      <p:transition spd="slow" advClick="0" advTm="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als of the course"/>
          <p:cNvSpPr txBox="1">
            <a:spLocks noGrp="1"/>
          </p:cNvSpPr>
          <p:nvPr/>
        </p:nvSpPr>
        <p:spPr>
          <a:xfrm>
            <a:off x="288290" y="273685"/>
            <a:ext cx="11609705" cy="1000760"/>
          </a:xfrm>
          <a:prstGeom prst="rect">
            <a:avLst/>
          </a:prstGeom>
          <a:ln w="12700">
            <a:miter lim="400000"/>
          </a:ln>
        </p:spPr>
        <p:txBody>
          <a:bodyPr lIns="0" tIns="0" rIns="0" bIns="0"/>
          <a:lstStyle>
            <a:lvl1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defRPr>
            </a:lvl1pPr>
            <a:lvl2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2pPr>
            <a:lvl3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3pPr>
            <a:lvl4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4pPr>
            <a:lvl5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5pPr>
            <a:lvl6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6pPr>
            <a:lvl7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7pPr>
            <a:lvl8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8pPr>
            <a:lvl9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9pPr>
          </a:lstStyle>
          <a:p>
            <a:r>
              <a:rPr lang="en-US" altLang="zh-CN" sz="3600" dirty="0">
                <a:ea typeface="宋体" pitchFamily="2" charset="-122"/>
                <a:sym typeface="+mn-ea"/>
              </a:rPr>
              <a:t>Development History</a:t>
            </a:r>
            <a:br>
              <a:rPr lang="en-US" altLang="zh-CN" sz="3600" dirty="0">
                <a:ea typeface="宋体" pitchFamily="2" charset="-122"/>
              </a:rPr>
            </a:br>
            <a:r>
              <a:rPr lang="en-US" altLang="zh-CN" sz="2800" dirty="0"/>
              <a:t>Birth and Rise: Key Milestones</a:t>
            </a:r>
            <a:endParaRPr lang="en-US" altLang="zh-CN" sz="3600" dirty="0"/>
          </a:p>
          <a:p>
            <a:endParaRPr lang="en-US" altLang="zh-CN" sz="3600" dirty="0">
              <a:ea typeface="宋体" pitchFamily="2" charset="-122"/>
            </a:endParaRPr>
          </a:p>
        </p:txBody>
      </p:sp>
      <p:sp>
        <p:nvSpPr>
          <p:cNvPr id="5" name="幻灯片编号"/>
          <p:cNvSpPr txBox="1">
            <a:spLocks noGrp="1"/>
          </p:cNvSpPr>
          <p:nvPr/>
        </p:nvSpPr>
        <p:spPr>
          <a:xfrm>
            <a:off x="10467260" y="6187968"/>
            <a:ext cx="504001" cy="177801"/>
          </a:xfrm>
          <a:prstGeom prst="rect">
            <a:avLst/>
          </a:prstGeom>
          <a:ln w="12700">
            <a:miter lim="400000"/>
          </a:ln>
        </p:spPr>
        <p:txBody>
          <a:bodyPr lIns="0" tIns="0" rIns="0" bIns="0" anchor="ctr">
            <a:spAutoFit/>
          </a:bodyPr>
          <a:lstStyle>
            <a:lvl1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defRPr>
            </a:lvl1pPr>
            <a:lvl2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2pPr>
            <a:lvl3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3pPr>
            <a:lvl4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4pPr>
            <a:lvl5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5pPr>
            <a:lvl6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6pPr>
            <a:lvl7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7pPr>
            <a:lvl8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8pPr>
            <a:lvl9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9pPr>
          </a:lstStyle>
          <a:p>
            <a:fld id="{86CB4B4D-7CA3-9044-876B-883B54F8677D}" type="slidenum">
              <a:rPr/>
              <a:t>4</a:t>
            </a:fld>
            <a:endParaRPr/>
          </a:p>
        </p:txBody>
      </p:sp>
      <p:sp>
        <p:nvSpPr>
          <p:cNvPr id="2" name="文本框 1"/>
          <p:cNvSpPr txBox="1"/>
          <p:nvPr/>
        </p:nvSpPr>
        <p:spPr>
          <a:xfrm>
            <a:off x="288290" y="1362075"/>
            <a:ext cx="11609070" cy="5003800"/>
          </a:xfrm>
          <a:prstGeom prst="rect">
            <a:avLst/>
          </a:prstGeom>
          <a:noFill/>
        </p:spPr>
        <p:txBody>
          <a:bodyPr wrap="square" rtlCol="0" anchor="t">
            <a:noAutofit/>
          </a:bodyPr>
          <a:lstStyle/>
          <a:p>
            <a:pPr algn="just"/>
            <a:endParaRPr lang="en-US" altLang="zh-CN" sz="2100"/>
          </a:p>
        </p:txBody>
      </p:sp>
      <p:sp>
        <p:nvSpPr>
          <p:cNvPr id="3" name="文本框 2"/>
          <p:cNvSpPr txBox="1"/>
          <p:nvPr/>
        </p:nvSpPr>
        <p:spPr>
          <a:xfrm>
            <a:off x="288290" y="1546860"/>
            <a:ext cx="11609070" cy="5003800"/>
          </a:xfrm>
          <a:prstGeom prst="rect">
            <a:avLst/>
          </a:prstGeom>
          <a:noFill/>
        </p:spPr>
        <p:txBody>
          <a:bodyPr wrap="square" rtlCol="0" anchor="t">
            <a:noAutofit/>
          </a:bodyPr>
          <a:lstStyle/>
          <a:p>
            <a:pPr algn="just"/>
            <a:r>
              <a:rPr lang="en-US" altLang="zh-CN" sz="2400">
                <a:sym typeface="+mn-ea"/>
              </a:rPr>
              <a:t>May 18, 2010, a 4-person team led by Professor Krste Asanovi</a:t>
            </a:r>
            <a:r>
              <a:rPr lang="en-US" altLang="en-US" sz="2400">
                <a:sym typeface="+mn-ea"/>
              </a:rPr>
              <a:t>ć</a:t>
            </a:r>
            <a:r>
              <a:rPr lang="en-US" sz="2400">
                <a:sym typeface="+mn-ea"/>
              </a:rPr>
              <a:t> </a:t>
            </a:r>
            <a:r>
              <a:rPr lang="en-US" altLang="zh-CN" sz="2400">
                <a:sym typeface="+mn-ea"/>
              </a:rPr>
              <a:t>launched a new ISA (Instruction Set Architecture) project. Its original intention was to address the pain points of "closedness" and "excessive complexity" in commercial architectures, and it was named "RISC-V" as the fifth-generation RISC design (with "V" also standing for Vector and Variations): </a:t>
            </a:r>
            <a:endParaRPr lang="en-US" altLang="zh-CN" sz="2400"/>
          </a:p>
          <a:p>
            <a:pPr marL="342900" indent="-342900" algn="just">
              <a:buFont typeface="Wingdings" panose="05000000000000000000" charset="0"/>
              <a:buChar char=""/>
            </a:pPr>
            <a:r>
              <a:rPr lang="en-US" altLang="zh-CN" sz="2100" b="1">
                <a:sym typeface="+mn-ea"/>
              </a:rPr>
              <a:t>December 2014</a:t>
            </a:r>
            <a:r>
              <a:rPr lang="en-US" altLang="zh-CN" sz="2100">
                <a:sym typeface="+mn-ea"/>
              </a:rPr>
              <a:t>: The first RISC-V product (FPGA-customized soft-core camera) was shipped, achieving commercial breakthrough.</a:t>
            </a:r>
            <a:endParaRPr lang="en-US" altLang="zh-CN" sz="2100"/>
          </a:p>
          <a:p>
            <a:pPr marL="342900" indent="-342900" algn="just">
              <a:buFont typeface="Wingdings" panose="05000000000000000000" charset="0"/>
              <a:buChar char=""/>
            </a:pPr>
            <a:r>
              <a:rPr lang="en-US" altLang="zh-CN" sz="2100" b="1">
                <a:sym typeface="+mn-ea"/>
              </a:rPr>
              <a:t>2015</a:t>
            </a:r>
            <a:r>
              <a:rPr lang="en-US" altLang="zh-CN" sz="2100">
                <a:sym typeface="+mn-ea"/>
              </a:rPr>
              <a:t>: The first RISC-V seminar was held, and the foundation was established in the same year, with 36 founding members joining.</a:t>
            </a:r>
            <a:endParaRPr lang="en-US" altLang="zh-CN" sz="2100"/>
          </a:p>
          <a:p>
            <a:pPr marL="342900" indent="-342900" algn="just">
              <a:buFont typeface="Wingdings" panose="05000000000000000000" charset="0"/>
              <a:buChar char=""/>
            </a:pPr>
            <a:r>
              <a:rPr lang="en-US" altLang="zh-CN" sz="2100" b="1">
                <a:sym typeface="+mn-ea"/>
              </a:rPr>
              <a:t>2017</a:t>
            </a:r>
            <a:r>
              <a:rPr lang="en-US" altLang="zh-CN" sz="2100">
                <a:sym typeface="+mn-ea"/>
              </a:rPr>
              <a:t>: Microchip Technology first used commercial RISC-V IP for FPGA soft cores, promoting industrial-grade applications.</a:t>
            </a:r>
            <a:endParaRPr lang="en-US" altLang="zh-CN" sz="2100"/>
          </a:p>
          <a:p>
            <a:pPr marL="342900" indent="-342900" algn="just">
              <a:buFont typeface="Wingdings" panose="05000000000000000000" charset="0"/>
              <a:buChar char=""/>
            </a:pPr>
            <a:r>
              <a:rPr lang="en-US" altLang="zh-CN" sz="2100" b="1">
                <a:sym typeface="+mn-ea"/>
              </a:rPr>
              <a:t>After 2020</a:t>
            </a:r>
            <a:r>
              <a:rPr lang="en-US" altLang="zh-CN" sz="2100">
                <a:sym typeface="+mn-ea"/>
              </a:rPr>
              <a:t>: Breakthrough in space applications (European nanosatellites equipped with Noel-V processors), consumer electronics (first RISC-V laptop Roma) and other scenarios.</a:t>
            </a:r>
            <a:endParaRPr lang="en-US" altLang="zh-CN" sz="2100"/>
          </a:p>
          <a:p>
            <a:pPr marL="342900" indent="-342900" algn="just">
              <a:buFont typeface="Wingdings" panose="05000000000000000000" charset="0"/>
              <a:buChar char=""/>
            </a:pPr>
            <a:r>
              <a:rPr lang="en-US" altLang="zh-CN" sz="2100" b="1">
                <a:sym typeface="+mn-ea"/>
              </a:rPr>
              <a:t>2024-2025</a:t>
            </a:r>
            <a:r>
              <a:rPr lang="en-US" altLang="zh-CN" sz="2100">
                <a:sym typeface="+mn-ea"/>
              </a:rPr>
              <a:t>:  Key breakthroughs in AI acceleration and server fields. Nvidia launches CUDA porting to RISC-V.</a:t>
            </a:r>
            <a:endParaRPr lang="en-US" altLang="zh-CN" sz="2100"/>
          </a:p>
        </p:txBody>
      </p:sp>
    </p:spTree>
  </p:cSld>
  <p:clrMapOvr>
    <a:masterClrMapping/>
  </p:clrMapOvr>
  <mc:AlternateContent xmlns:mc="http://schemas.openxmlformats.org/markup-compatibility/2006" xmlns:p14="http://schemas.microsoft.com/office/powerpoint/2010/main">
    <mc:Choice Requires="p14">
      <p:transition spd="slow" p14:dur="1500" advClick="0" advTm="0"/>
    </mc:Choice>
    <mc:Fallback xmlns="">
      <p:transition spd="slow" advClick="0" advTm="0"/>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4B2BD-23D5-64C2-0F82-D7F226738F4C}"/>
            </a:ext>
          </a:extLst>
        </p:cNvPr>
        <p:cNvGrpSpPr/>
        <p:nvPr/>
      </p:nvGrpSpPr>
      <p:grpSpPr>
        <a:xfrm>
          <a:off x="0" y="0"/>
          <a:ext cx="0" cy="0"/>
          <a:chOff x="0" y="0"/>
          <a:chExt cx="0" cy="0"/>
        </a:xfrm>
      </p:grpSpPr>
      <p:sp>
        <p:nvSpPr>
          <p:cNvPr id="4" name="Goals of the course">
            <a:extLst>
              <a:ext uri="{FF2B5EF4-FFF2-40B4-BE49-F238E27FC236}">
                <a16:creationId xmlns:a16="http://schemas.microsoft.com/office/drawing/2014/main" id="{0D114A9B-1ADE-0BDF-69D9-2D462B9BFDA7}"/>
              </a:ext>
            </a:extLst>
          </p:cNvPr>
          <p:cNvSpPr txBox="1">
            <a:spLocks noGrp="1"/>
          </p:cNvSpPr>
          <p:nvPr/>
        </p:nvSpPr>
        <p:spPr>
          <a:xfrm>
            <a:off x="288290" y="273685"/>
            <a:ext cx="11609705" cy="1000760"/>
          </a:xfrm>
          <a:prstGeom prst="rect">
            <a:avLst/>
          </a:prstGeom>
          <a:ln w="12700">
            <a:miter lim="400000"/>
          </a:ln>
        </p:spPr>
        <p:txBody>
          <a:bodyPr lIns="0" tIns="0" rIns="0" bIns="0"/>
          <a:lstStyle>
            <a:lvl1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defRPr>
            </a:lvl1pPr>
            <a:lvl2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2pPr>
            <a:lvl3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3pPr>
            <a:lvl4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4pPr>
            <a:lvl5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5pPr>
            <a:lvl6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6pPr>
            <a:lvl7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7pPr>
            <a:lvl8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8pPr>
            <a:lvl9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9pPr>
          </a:lstStyle>
          <a:p>
            <a:r>
              <a:rPr lang="en-US" altLang="zh-CN" sz="3600" dirty="0">
                <a:ea typeface="宋体" pitchFamily="2" charset="-122"/>
                <a:sym typeface="+mn-ea"/>
              </a:rPr>
              <a:t>Core Technology: Hardcore Advantages of Open-Source Architecture</a:t>
            </a:r>
          </a:p>
          <a:p>
            <a:pPr algn="just"/>
            <a:r>
              <a:rPr lang="en-US" altLang="zh-CN" sz="2800" dirty="0">
                <a:ea typeface="+mn-ea"/>
              </a:rPr>
              <a:t>Design Concept: Return to Simplicity, Embrace Flexibility</a:t>
            </a:r>
            <a:endParaRPr lang="en-US" altLang="zh-CN" sz="2800" dirty="0">
              <a:ea typeface="+mn-ea"/>
              <a:sym typeface="+mn-ea"/>
            </a:endParaRPr>
          </a:p>
          <a:p>
            <a:endParaRPr lang="en-US" altLang="zh-CN" sz="3600" dirty="0"/>
          </a:p>
          <a:p>
            <a:endParaRPr lang="en-US" altLang="zh-CN" sz="3600" dirty="0">
              <a:ea typeface="宋体" pitchFamily="2" charset="-122"/>
            </a:endParaRPr>
          </a:p>
        </p:txBody>
      </p:sp>
      <p:sp>
        <p:nvSpPr>
          <p:cNvPr id="5" name="幻灯片编号">
            <a:extLst>
              <a:ext uri="{FF2B5EF4-FFF2-40B4-BE49-F238E27FC236}">
                <a16:creationId xmlns:a16="http://schemas.microsoft.com/office/drawing/2014/main" id="{64577551-3152-7455-9B17-F4AF65D9F6A5}"/>
              </a:ext>
            </a:extLst>
          </p:cNvPr>
          <p:cNvSpPr txBox="1">
            <a:spLocks noGrp="1"/>
          </p:cNvSpPr>
          <p:nvPr/>
        </p:nvSpPr>
        <p:spPr>
          <a:xfrm>
            <a:off x="10467260" y="6187968"/>
            <a:ext cx="504001" cy="177801"/>
          </a:xfrm>
          <a:prstGeom prst="rect">
            <a:avLst/>
          </a:prstGeom>
          <a:ln w="12700">
            <a:miter lim="400000"/>
          </a:ln>
        </p:spPr>
        <p:txBody>
          <a:bodyPr lIns="0" tIns="0" rIns="0" bIns="0" anchor="ctr">
            <a:spAutoFit/>
          </a:bodyPr>
          <a:lstStyle>
            <a:lvl1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defRPr>
            </a:lvl1pPr>
            <a:lvl2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2pPr>
            <a:lvl3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3pPr>
            <a:lvl4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4pPr>
            <a:lvl5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5pPr>
            <a:lvl6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6pPr>
            <a:lvl7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7pPr>
            <a:lvl8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8pPr>
            <a:lvl9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9pPr>
          </a:lstStyle>
          <a:p>
            <a:fld id="{86CB4B4D-7CA3-9044-876B-883B54F8677D}" type="slidenum">
              <a:rPr/>
              <a:t>5</a:t>
            </a:fld>
            <a:endParaRPr/>
          </a:p>
        </p:txBody>
      </p:sp>
      <p:sp>
        <p:nvSpPr>
          <p:cNvPr id="3" name="文本框 2">
            <a:extLst>
              <a:ext uri="{FF2B5EF4-FFF2-40B4-BE49-F238E27FC236}">
                <a16:creationId xmlns:a16="http://schemas.microsoft.com/office/drawing/2014/main" id="{4AB0BB13-7A63-0C9B-115E-03B844B564F0}"/>
              </a:ext>
            </a:extLst>
          </p:cNvPr>
          <p:cNvSpPr txBox="1"/>
          <p:nvPr/>
        </p:nvSpPr>
        <p:spPr>
          <a:xfrm>
            <a:off x="288290" y="2994660"/>
            <a:ext cx="11609070" cy="5003800"/>
          </a:xfrm>
          <a:prstGeom prst="rect">
            <a:avLst/>
          </a:prstGeom>
          <a:noFill/>
        </p:spPr>
        <p:txBody>
          <a:bodyPr wrap="square" rtlCol="0" anchor="t">
            <a:noAutofit/>
          </a:bodyPr>
          <a:lstStyle/>
          <a:p>
            <a:pPr algn="just"/>
            <a:r>
              <a:rPr lang="en-US" altLang="zh-CN" sz="2400" dirty="0">
                <a:sym typeface="+mn-ea"/>
              </a:rPr>
              <a:t>RISC-V's core design goals are rooted in "pragmatism": it maintains the simplicity of the instruction set while meeting diverse needs through modular design, avoiding the "compatibility burden" of commercial architectures.</a:t>
            </a:r>
            <a:endParaRPr lang="en-US" altLang="zh-CN" sz="2100" dirty="0"/>
          </a:p>
        </p:txBody>
      </p:sp>
    </p:spTree>
    <p:extLst>
      <p:ext uri="{BB962C8B-B14F-4D97-AF65-F5344CB8AC3E}">
        <p14:creationId xmlns:p14="http://schemas.microsoft.com/office/powerpoint/2010/main" val="2350176892"/>
      </p:ext>
    </p:extLst>
  </p:cSld>
  <p:clrMapOvr>
    <a:masterClrMapping/>
  </p:clrMapOvr>
  <mc:AlternateContent xmlns:mc="http://schemas.openxmlformats.org/markup-compatibility/2006" xmlns:p14="http://schemas.microsoft.com/office/powerpoint/2010/main">
    <mc:Choice Requires="p14">
      <p:transition spd="slow" p14:dur="1500" advClick="0" advTm="0"/>
    </mc:Choice>
    <mc:Fallback xmlns="">
      <p:transition spd="slow" advClick="0" advTm="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43BA2-B161-5FCB-85E9-892594AC9749}"/>
            </a:ext>
          </a:extLst>
        </p:cNvPr>
        <p:cNvGrpSpPr/>
        <p:nvPr/>
      </p:nvGrpSpPr>
      <p:grpSpPr>
        <a:xfrm>
          <a:off x="0" y="0"/>
          <a:ext cx="0" cy="0"/>
          <a:chOff x="0" y="0"/>
          <a:chExt cx="0" cy="0"/>
        </a:xfrm>
      </p:grpSpPr>
      <p:sp>
        <p:nvSpPr>
          <p:cNvPr id="4" name="Goals of the course">
            <a:extLst>
              <a:ext uri="{FF2B5EF4-FFF2-40B4-BE49-F238E27FC236}">
                <a16:creationId xmlns:a16="http://schemas.microsoft.com/office/drawing/2014/main" id="{FFB6B74F-586B-8731-4640-863F84625960}"/>
              </a:ext>
            </a:extLst>
          </p:cNvPr>
          <p:cNvSpPr txBox="1">
            <a:spLocks noGrp="1"/>
          </p:cNvSpPr>
          <p:nvPr/>
        </p:nvSpPr>
        <p:spPr>
          <a:xfrm>
            <a:off x="288290" y="273685"/>
            <a:ext cx="11609705" cy="1000760"/>
          </a:xfrm>
          <a:prstGeom prst="rect">
            <a:avLst/>
          </a:prstGeom>
          <a:ln w="12700">
            <a:miter lim="400000"/>
          </a:ln>
        </p:spPr>
        <p:txBody>
          <a:bodyPr lIns="0" tIns="0" rIns="0" bIns="0"/>
          <a:lstStyle>
            <a:lvl1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defRPr>
            </a:lvl1pPr>
            <a:lvl2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2pPr>
            <a:lvl3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3pPr>
            <a:lvl4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4pPr>
            <a:lvl5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5pPr>
            <a:lvl6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6pPr>
            <a:lvl7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7pPr>
            <a:lvl8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8pPr>
            <a:lvl9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9pPr>
          </a:lstStyle>
          <a:p>
            <a:r>
              <a:rPr lang="en-US" altLang="zh-CN" sz="3600" dirty="0">
                <a:ea typeface="宋体" pitchFamily="2" charset="-122"/>
                <a:sym typeface="+mn-ea"/>
              </a:rPr>
              <a:t>The Fore Core Technical Features of RISC-V</a:t>
            </a:r>
          </a:p>
          <a:p>
            <a:r>
              <a:rPr lang="en-US" altLang="zh-CN" sz="2800" dirty="0">
                <a:ea typeface="+mn-ea"/>
              </a:rPr>
              <a:t>1. Modular Instruction Set: "Building Blocks" on Demand</a:t>
            </a:r>
            <a:endParaRPr lang="en-US" altLang="zh-CN" sz="3600" dirty="0">
              <a:ea typeface="宋体" pitchFamily="2" charset="-122"/>
            </a:endParaRPr>
          </a:p>
        </p:txBody>
      </p:sp>
      <p:sp>
        <p:nvSpPr>
          <p:cNvPr id="5" name="幻灯片编号">
            <a:extLst>
              <a:ext uri="{FF2B5EF4-FFF2-40B4-BE49-F238E27FC236}">
                <a16:creationId xmlns:a16="http://schemas.microsoft.com/office/drawing/2014/main" id="{12C189CB-BEFF-3578-6357-F6F53F533C7B}"/>
              </a:ext>
            </a:extLst>
          </p:cNvPr>
          <p:cNvSpPr txBox="1">
            <a:spLocks noGrp="1"/>
          </p:cNvSpPr>
          <p:nvPr/>
        </p:nvSpPr>
        <p:spPr>
          <a:xfrm>
            <a:off x="10467260" y="6187968"/>
            <a:ext cx="504001" cy="177801"/>
          </a:xfrm>
          <a:prstGeom prst="rect">
            <a:avLst/>
          </a:prstGeom>
          <a:ln w="12700">
            <a:miter lim="400000"/>
          </a:ln>
        </p:spPr>
        <p:txBody>
          <a:bodyPr lIns="0" tIns="0" rIns="0" bIns="0" anchor="ctr">
            <a:spAutoFit/>
          </a:bodyPr>
          <a:lstStyle>
            <a:lvl1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defRPr>
            </a:lvl1pPr>
            <a:lvl2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2pPr>
            <a:lvl3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3pPr>
            <a:lvl4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4pPr>
            <a:lvl5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5pPr>
            <a:lvl6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6pPr>
            <a:lvl7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7pPr>
            <a:lvl8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8pPr>
            <a:lvl9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9pPr>
          </a:lstStyle>
          <a:p>
            <a:fld id="{86CB4B4D-7CA3-9044-876B-883B54F8677D}" type="slidenum">
              <a:rPr/>
              <a:t>6</a:t>
            </a:fld>
            <a:endParaRPr/>
          </a:p>
        </p:txBody>
      </p:sp>
      <p:sp>
        <p:nvSpPr>
          <p:cNvPr id="3" name="文本框 2">
            <a:extLst>
              <a:ext uri="{FF2B5EF4-FFF2-40B4-BE49-F238E27FC236}">
                <a16:creationId xmlns:a16="http://schemas.microsoft.com/office/drawing/2014/main" id="{98C6526E-4A39-150E-A705-8AC5473DFB49}"/>
              </a:ext>
            </a:extLst>
          </p:cNvPr>
          <p:cNvSpPr txBox="1"/>
          <p:nvPr/>
        </p:nvSpPr>
        <p:spPr>
          <a:xfrm>
            <a:off x="288290" y="1274445"/>
            <a:ext cx="11609070" cy="884554"/>
          </a:xfrm>
          <a:prstGeom prst="rect">
            <a:avLst/>
          </a:prstGeom>
          <a:noFill/>
        </p:spPr>
        <p:txBody>
          <a:bodyPr wrap="square" rtlCol="0" anchor="t">
            <a:noAutofit/>
          </a:bodyPr>
          <a:lstStyle/>
          <a:p>
            <a:pPr algn="just"/>
            <a:r>
              <a:rPr lang="en-US" altLang="zh-CN" sz="2400" dirty="0">
                <a:sym typeface="+mn-ea"/>
              </a:rPr>
              <a:t>Adopts the "base instruction set + extended instruction set" architecture, catering to both minimal and complex scenarios:</a:t>
            </a:r>
          </a:p>
          <a:p>
            <a:pPr algn="just"/>
            <a:endParaRPr lang="en-US" altLang="zh-CN" sz="2100" dirty="0"/>
          </a:p>
        </p:txBody>
      </p:sp>
      <p:sp>
        <p:nvSpPr>
          <p:cNvPr id="2" name="文本框 1">
            <a:extLst>
              <a:ext uri="{FF2B5EF4-FFF2-40B4-BE49-F238E27FC236}">
                <a16:creationId xmlns:a16="http://schemas.microsoft.com/office/drawing/2014/main" id="{F9563BD5-4305-63E1-8B24-B7BD80736022}"/>
              </a:ext>
            </a:extLst>
          </p:cNvPr>
          <p:cNvSpPr txBox="1"/>
          <p:nvPr/>
        </p:nvSpPr>
        <p:spPr>
          <a:xfrm>
            <a:off x="482600" y="2465323"/>
            <a:ext cx="10803468" cy="3416320"/>
          </a:xfrm>
          <a:prstGeom prst="rect">
            <a:avLst/>
          </a:prstGeom>
          <a:noFill/>
        </p:spPr>
        <p:txBody>
          <a:bodyPr wrap="square" rtlCol="0">
            <a:spAutoFit/>
          </a:bodyPr>
          <a:lstStyle/>
          <a:p>
            <a:pPr marL="342900" indent="-342900">
              <a:buFont typeface="Wingdings" panose="05000000000000000000" pitchFamily="2" charset="2"/>
              <a:buChar char="Ø"/>
            </a:pPr>
            <a:r>
              <a:rPr lang="en-US" altLang="zh-CN" sz="2400" b="1" dirty="0"/>
              <a:t>Base Instruction Set (Mandatory): </a:t>
            </a:r>
            <a:r>
              <a:rPr lang="en-US" altLang="zh-CN" sz="2400" dirty="0"/>
              <a:t>Such as RV32I (32-bit integer) and RV64I (64-bit integer), containing only dozens of core instructions, enabling simple hardware implementation</a:t>
            </a:r>
          </a:p>
          <a:p>
            <a:pPr marL="342900" indent="-342900">
              <a:buFont typeface="Wingdings" panose="05000000000000000000" pitchFamily="2" charset="2"/>
              <a:buChar char="Ø"/>
            </a:pPr>
            <a:endParaRPr lang="en-US" altLang="zh-CN" sz="2400" dirty="0"/>
          </a:p>
          <a:p>
            <a:pPr marL="342900" indent="-342900">
              <a:buFont typeface="Wingdings" panose="05000000000000000000" pitchFamily="2" charset="2"/>
              <a:buChar char="Ø"/>
            </a:pPr>
            <a:r>
              <a:rPr lang="en-US" altLang="zh-CN" sz="2400" b="1" dirty="0"/>
              <a:t>Standard Extensions (Optional): </a:t>
            </a:r>
            <a:r>
              <a:rPr lang="en-US" altLang="zh-CN" sz="2400" dirty="0"/>
              <a:t>Designed for specific scenarios, such as "F" (single-precision floating-point), and "V" (vector computing, core for AI scenarios).</a:t>
            </a:r>
          </a:p>
          <a:p>
            <a:pPr marL="342900" indent="-342900">
              <a:buFont typeface="Wingdings" panose="05000000000000000000" pitchFamily="2" charset="2"/>
              <a:buChar char="Ø"/>
            </a:pPr>
            <a:endParaRPr lang="en-US" altLang="zh-CN" sz="2400" dirty="0"/>
          </a:p>
          <a:p>
            <a:pPr marL="342900" indent="-342900">
              <a:buFont typeface="Wingdings" panose="05000000000000000000" pitchFamily="2" charset="2"/>
              <a:buChar char="Ø"/>
            </a:pPr>
            <a:r>
              <a:rPr lang="en-US" altLang="zh-CN" sz="2400" b="1" dirty="0"/>
              <a:t>Custom Extensions:</a:t>
            </a:r>
            <a:r>
              <a:rPr lang="en-US" altLang="zh-CN" sz="2400" dirty="0"/>
              <a:t> Supports enterprises to add exclusive instructions (e.g., tensor acceleration instructions for AI chips).</a:t>
            </a:r>
            <a:endParaRPr lang="zh-CN" altLang="en-US" sz="2400" dirty="0"/>
          </a:p>
        </p:txBody>
      </p:sp>
    </p:spTree>
    <p:extLst>
      <p:ext uri="{BB962C8B-B14F-4D97-AF65-F5344CB8AC3E}">
        <p14:creationId xmlns:p14="http://schemas.microsoft.com/office/powerpoint/2010/main" val="80846849"/>
      </p:ext>
    </p:extLst>
  </p:cSld>
  <p:clrMapOvr>
    <a:masterClrMapping/>
  </p:clrMapOvr>
  <mc:AlternateContent xmlns:mc="http://schemas.openxmlformats.org/markup-compatibility/2006" xmlns:p14="http://schemas.microsoft.com/office/powerpoint/2010/main">
    <mc:Choice Requires="p14">
      <p:transition spd="slow" p14:dur="1500" advClick="0" advTm="0"/>
    </mc:Choice>
    <mc:Fallback xmlns="">
      <p:transition spd="slow" advClick="0" advTm="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146AA9-C8C0-9E97-9F1F-681C361EE23A}"/>
            </a:ext>
          </a:extLst>
        </p:cNvPr>
        <p:cNvGrpSpPr/>
        <p:nvPr/>
      </p:nvGrpSpPr>
      <p:grpSpPr>
        <a:xfrm>
          <a:off x="0" y="0"/>
          <a:ext cx="0" cy="0"/>
          <a:chOff x="0" y="0"/>
          <a:chExt cx="0" cy="0"/>
        </a:xfrm>
      </p:grpSpPr>
      <p:sp>
        <p:nvSpPr>
          <p:cNvPr id="4" name="Goals of the course">
            <a:extLst>
              <a:ext uri="{FF2B5EF4-FFF2-40B4-BE49-F238E27FC236}">
                <a16:creationId xmlns:a16="http://schemas.microsoft.com/office/drawing/2014/main" id="{04A4457E-E1E0-36AA-D896-601156088533}"/>
              </a:ext>
            </a:extLst>
          </p:cNvPr>
          <p:cNvSpPr txBox="1">
            <a:spLocks noGrp="1"/>
          </p:cNvSpPr>
          <p:nvPr/>
        </p:nvSpPr>
        <p:spPr>
          <a:xfrm>
            <a:off x="288290" y="273685"/>
            <a:ext cx="11609705" cy="1000760"/>
          </a:xfrm>
          <a:prstGeom prst="rect">
            <a:avLst/>
          </a:prstGeom>
          <a:ln w="12700">
            <a:miter lim="400000"/>
          </a:ln>
        </p:spPr>
        <p:txBody>
          <a:bodyPr lIns="0" tIns="0" rIns="0" bIns="0"/>
          <a:lstStyle>
            <a:lvl1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defRPr>
            </a:lvl1pPr>
            <a:lvl2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2pPr>
            <a:lvl3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3pPr>
            <a:lvl4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4pPr>
            <a:lvl5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5pPr>
            <a:lvl6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6pPr>
            <a:lvl7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7pPr>
            <a:lvl8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8pPr>
            <a:lvl9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9pPr>
          </a:lstStyle>
          <a:p>
            <a:r>
              <a:rPr lang="en-US" altLang="zh-CN" sz="3600" dirty="0">
                <a:ea typeface="宋体" pitchFamily="2" charset="-122"/>
                <a:sym typeface="+mn-ea"/>
              </a:rPr>
              <a:t>The Fore Core Technical Features of RISC-V</a:t>
            </a:r>
          </a:p>
          <a:p>
            <a:r>
              <a:rPr lang="en-US" altLang="zh-CN" sz="2800" dirty="0">
                <a:ea typeface="+mn-ea"/>
              </a:rPr>
              <a:t>2. Open-Source and Free: Breaking Authorization Barrier</a:t>
            </a:r>
            <a:endParaRPr lang="en-US" altLang="zh-CN" sz="3600" dirty="0">
              <a:ea typeface="宋体" pitchFamily="2" charset="-122"/>
            </a:endParaRPr>
          </a:p>
        </p:txBody>
      </p:sp>
      <p:sp>
        <p:nvSpPr>
          <p:cNvPr id="5" name="幻灯片编号">
            <a:extLst>
              <a:ext uri="{FF2B5EF4-FFF2-40B4-BE49-F238E27FC236}">
                <a16:creationId xmlns:a16="http://schemas.microsoft.com/office/drawing/2014/main" id="{518F0305-7634-EB1C-9E26-7CE58FD35183}"/>
              </a:ext>
            </a:extLst>
          </p:cNvPr>
          <p:cNvSpPr txBox="1">
            <a:spLocks noGrp="1"/>
          </p:cNvSpPr>
          <p:nvPr/>
        </p:nvSpPr>
        <p:spPr>
          <a:xfrm>
            <a:off x="10467260" y="6187968"/>
            <a:ext cx="504001" cy="177801"/>
          </a:xfrm>
          <a:prstGeom prst="rect">
            <a:avLst/>
          </a:prstGeom>
          <a:ln w="12700">
            <a:miter lim="400000"/>
          </a:ln>
        </p:spPr>
        <p:txBody>
          <a:bodyPr lIns="0" tIns="0" rIns="0" bIns="0" anchor="ctr">
            <a:spAutoFit/>
          </a:bodyPr>
          <a:lstStyle>
            <a:lvl1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defRPr>
            </a:lvl1pPr>
            <a:lvl2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2pPr>
            <a:lvl3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3pPr>
            <a:lvl4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4pPr>
            <a:lvl5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5pPr>
            <a:lvl6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6pPr>
            <a:lvl7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7pPr>
            <a:lvl8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8pPr>
            <a:lvl9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9pPr>
          </a:lstStyle>
          <a:p>
            <a:fld id="{86CB4B4D-7CA3-9044-876B-883B54F8677D}" type="slidenum">
              <a:rPr/>
              <a:t>7</a:t>
            </a:fld>
            <a:endParaRPr/>
          </a:p>
        </p:txBody>
      </p:sp>
      <p:sp>
        <p:nvSpPr>
          <p:cNvPr id="2" name="文本框 1">
            <a:extLst>
              <a:ext uri="{FF2B5EF4-FFF2-40B4-BE49-F238E27FC236}">
                <a16:creationId xmlns:a16="http://schemas.microsoft.com/office/drawing/2014/main" id="{CB8BCA6F-9440-F119-1013-28CD8B2FE4C0}"/>
              </a:ext>
            </a:extLst>
          </p:cNvPr>
          <p:cNvSpPr txBox="1"/>
          <p:nvPr/>
        </p:nvSpPr>
        <p:spPr>
          <a:xfrm>
            <a:off x="482600" y="2465323"/>
            <a:ext cx="10803468" cy="2677656"/>
          </a:xfrm>
          <a:prstGeom prst="rect">
            <a:avLst/>
          </a:prstGeom>
          <a:noFill/>
        </p:spPr>
        <p:txBody>
          <a:bodyPr wrap="square" rtlCol="0">
            <a:spAutoFit/>
          </a:bodyPr>
          <a:lstStyle/>
          <a:p>
            <a:pPr marL="342900" indent="-342900">
              <a:buFont typeface="Wingdings" panose="05000000000000000000" pitchFamily="2" charset="2"/>
              <a:buChar char="Ø"/>
            </a:pPr>
            <a:r>
              <a:rPr lang="en-US" altLang="zh-CN" sz="2400" dirty="0"/>
              <a:t>The instruction set specification is fully open-source, and anyone can obtain, use, and modify it for free.</a:t>
            </a:r>
          </a:p>
          <a:p>
            <a:pPr marL="342900" indent="-342900">
              <a:buFont typeface="Wingdings" panose="05000000000000000000" pitchFamily="2" charset="2"/>
              <a:buChar char="Ø"/>
            </a:pPr>
            <a:endParaRPr lang="en-US" altLang="zh-CN" sz="2400" dirty="0"/>
          </a:p>
          <a:p>
            <a:pPr marL="342900" indent="-342900">
              <a:buFont typeface="Wingdings" panose="05000000000000000000" pitchFamily="2" charset="2"/>
              <a:buChar char="Ø"/>
            </a:pPr>
            <a:r>
              <a:rPr lang="en-US" altLang="zh-CN" sz="2400" dirty="0"/>
              <a:t>No authorization fees for commercialization, lowering the threshold for chip design. </a:t>
            </a:r>
          </a:p>
          <a:p>
            <a:pPr marL="342900" indent="-342900">
              <a:buFont typeface="Wingdings" panose="05000000000000000000" pitchFamily="2" charset="2"/>
              <a:buChar char="Ø"/>
            </a:pPr>
            <a:endParaRPr lang="en-US" altLang="zh-CN" sz="2400" dirty="0"/>
          </a:p>
          <a:p>
            <a:pPr marL="342900" indent="-342900">
              <a:buFont typeface="Wingdings" panose="05000000000000000000" pitchFamily="2" charset="2"/>
              <a:buChar char="Ø"/>
            </a:pPr>
            <a:r>
              <a:rPr lang="en-US" altLang="zh-CN" sz="2400" dirty="0"/>
              <a:t>Community collaborative iteration: the iteration efficiency is far higher than that of closed architectures.</a:t>
            </a:r>
            <a:endParaRPr lang="zh-CN" altLang="en-US" sz="2400" dirty="0"/>
          </a:p>
        </p:txBody>
      </p:sp>
    </p:spTree>
    <p:extLst>
      <p:ext uri="{BB962C8B-B14F-4D97-AF65-F5344CB8AC3E}">
        <p14:creationId xmlns:p14="http://schemas.microsoft.com/office/powerpoint/2010/main" val="3130620324"/>
      </p:ext>
    </p:extLst>
  </p:cSld>
  <p:clrMapOvr>
    <a:masterClrMapping/>
  </p:clrMapOvr>
  <mc:AlternateContent xmlns:mc="http://schemas.openxmlformats.org/markup-compatibility/2006" xmlns:p14="http://schemas.microsoft.com/office/powerpoint/2010/main">
    <mc:Choice Requires="p14">
      <p:transition spd="slow" p14:dur="1500" advClick="0" advTm="0"/>
    </mc:Choice>
    <mc:Fallback xmlns="">
      <p:transition spd="slow" advClick="0" advTm="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BA6C72-5404-EEFD-D5EC-4DB4233B0F00}"/>
            </a:ext>
          </a:extLst>
        </p:cNvPr>
        <p:cNvGrpSpPr/>
        <p:nvPr/>
      </p:nvGrpSpPr>
      <p:grpSpPr>
        <a:xfrm>
          <a:off x="0" y="0"/>
          <a:ext cx="0" cy="0"/>
          <a:chOff x="0" y="0"/>
          <a:chExt cx="0" cy="0"/>
        </a:xfrm>
      </p:grpSpPr>
      <p:sp>
        <p:nvSpPr>
          <p:cNvPr id="4" name="Goals of the course">
            <a:extLst>
              <a:ext uri="{FF2B5EF4-FFF2-40B4-BE49-F238E27FC236}">
                <a16:creationId xmlns:a16="http://schemas.microsoft.com/office/drawing/2014/main" id="{9360C404-E888-5687-0DA2-BD8202EB423C}"/>
              </a:ext>
            </a:extLst>
          </p:cNvPr>
          <p:cNvSpPr txBox="1">
            <a:spLocks noGrp="1"/>
          </p:cNvSpPr>
          <p:nvPr/>
        </p:nvSpPr>
        <p:spPr>
          <a:xfrm>
            <a:off x="288290" y="273685"/>
            <a:ext cx="11609705" cy="1000760"/>
          </a:xfrm>
          <a:prstGeom prst="rect">
            <a:avLst/>
          </a:prstGeom>
          <a:ln w="12700">
            <a:miter lim="400000"/>
          </a:ln>
        </p:spPr>
        <p:txBody>
          <a:bodyPr lIns="0" tIns="0" rIns="0" bIns="0"/>
          <a:lstStyle>
            <a:lvl1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defRPr>
            </a:lvl1pPr>
            <a:lvl2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2pPr>
            <a:lvl3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3pPr>
            <a:lvl4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4pPr>
            <a:lvl5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5pPr>
            <a:lvl6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6pPr>
            <a:lvl7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7pPr>
            <a:lvl8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8pPr>
            <a:lvl9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9pPr>
          </a:lstStyle>
          <a:p>
            <a:r>
              <a:rPr lang="en-US" altLang="zh-CN" sz="3600" dirty="0">
                <a:ea typeface="宋体" pitchFamily="2" charset="-122"/>
                <a:sym typeface="+mn-ea"/>
              </a:rPr>
              <a:t>The Fore Core Technical Features of RISC-V</a:t>
            </a:r>
          </a:p>
          <a:p>
            <a:r>
              <a:rPr lang="en-US" altLang="zh-CN" sz="2800" dirty="0">
                <a:ea typeface="+mn-ea"/>
              </a:rPr>
              <a:t>3. Cross-Scenario Adaptation: From Microcontrollers to Servers</a:t>
            </a:r>
            <a:endParaRPr lang="en-US" altLang="zh-CN" sz="3600" dirty="0">
              <a:ea typeface="宋体" pitchFamily="2" charset="-122"/>
            </a:endParaRPr>
          </a:p>
        </p:txBody>
      </p:sp>
      <p:sp>
        <p:nvSpPr>
          <p:cNvPr id="5" name="幻灯片编号">
            <a:extLst>
              <a:ext uri="{FF2B5EF4-FFF2-40B4-BE49-F238E27FC236}">
                <a16:creationId xmlns:a16="http://schemas.microsoft.com/office/drawing/2014/main" id="{A33C85C6-1309-06E0-50B9-B73F03974D85}"/>
              </a:ext>
            </a:extLst>
          </p:cNvPr>
          <p:cNvSpPr txBox="1">
            <a:spLocks noGrp="1"/>
          </p:cNvSpPr>
          <p:nvPr/>
        </p:nvSpPr>
        <p:spPr>
          <a:xfrm>
            <a:off x="10467260" y="6187968"/>
            <a:ext cx="504001" cy="177801"/>
          </a:xfrm>
          <a:prstGeom prst="rect">
            <a:avLst/>
          </a:prstGeom>
          <a:ln w="12700">
            <a:miter lim="400000"/>
          </a:ln>
        </p:spPr>
        <p:txBody>
          <a:bodyPr lIns="0" tIns="0" rIns="0" bIns="0" anchor="ctr">
            <a:spAutoFit/>
          </a:bodyPr>
          <a:lstStyle>
            <a:lvl1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defRPr>
            </a:lvl1pPr>
            <a:lvl2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2pPr>
            <a:lvl3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3pPr>
            <a:lvl4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4pPr>
            <a:lvl5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5pPr>
            <a:lvl6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6pPr>
            <a:lvl7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7pPr>
            <a:lvl8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8pPr>
            <a:lvl9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9pPr>
          </a:lstStyle>
          <a:p>
            <a:fld id="{86CB4B4D-7CA3-9044-876B-883B54F8677D}" type="slidenum">
              <a:rPr/>
              <a:t>8</a:t>
            </a:fld>
            <a:endParaRPr/>
          </a:p>
        </p:txBody>
      </p:sp>
      <p:sp>
        <p:nvSpPr>
          <p:cNvPr id="2" name="文本框 1">
            <a:extLst>
              <a:ext uri="{FF2B5EF4-FFF2-40B4-BE49-F238E27FC236}">
                <a16:creationId xmlns:a16="http://schemas.microsoft.com/office/drawing/2014/main" id="{002721D8-A118-2CB6-F1DF-F98722BC6857}"/>
              </a:ext>
            </a:extLst>
          </p:cNvPr>
          <p:cNvSpPr txBox="1"/>
          <p:nvPr/>
        </p:nvSpPr>
        <p:spPr>
          <a:xfrm>
            <a:off x="499534" y="1494911"/>
            <a:ext cx="10803468" cy="2677656"/>
          </a:xfrm>
          <a:prstGeom prst="rect">
            <a:avLst/>
          </a:prstGeom>
          <a:noFill/>
        </p:spPr>
        <p:txBody>
          <a:bodyPr wrap="square" rtlCol="0">
            <a:spAutoFit/>
          </a:bodyPr>
          <a:lstStyle/>
          <a:p>
            <a:pPr marL="342900" indent="-342900">
              <a:buFont typeface="Wingdings" panose="05000000000000000000" pitchFamily="2" charset="2"/>
              <a:buChar char="Ø"/>
            </a:pPr>
            <a:r>
              <a:rPr lang="en-US" altLang="zh-CN" sz="2400" b="1" dirty="0"/>
              <a:t>Embedded Scenarios: </a:t>
            </a:r>
            <a:r>
              <a:rPr lang="en-US" altLang="zh-CN" sz="2400" dirty="0"/>
              <a:t>The streamlined RV32E version only requires 16 registers, with power consumption as low as 30%-50% of similar ARM chips. GD32V MCU achieves a 10-year battery life.</a:t>
            </a:r>
          </a:p>
          <a:p>
            <a:endParaRPr lang="en-US" altLang="zh-CN" sz="2400" dirty="0"/>
          </a:p>
          <a:p>
            <a:pPr marL="342900" indent="-342900">
              <a:buFont typeface="Wingdings" panose="05000000000000000000" pitchFamily="2" charset="2"/>
              <a:buChar char="Ø"/>
            </a:pPr>
            <a:r>
              <a:rPr lang="en-US" altLang="zh-CN" sz="2400" b="1" dirty="0"/>
              <a:t>High-Performance Scenarios: </a:t>
            </a:r>
            <a:r>
              <a:rPr lang="en-US" altLang="zh-CN" sz="2400" dirty="0"/>
              <a:t>RV64G (general extension combination) supports Linux systems. </a:t>
            </a:r>
            <a:r>
              <a:rPr lang="en-US" altLang="zh-CN" sz="2400" dirty="0" err="1"/>
              <a:t>Xuantie</a:t>
            </a:r>
            <a:r>
              <a:rPr lang="en-US" altLang="zh-CN" sz="2400" dirty="0"/>
              <a:t> C930 server chip has a SPECint2006 performance of 15/GHz, comparable to ARM A78.</a:t>
            </a:r>
            <a:endParaRPr lang="zh-CN" altLang="en-US" sz="2400" dirty="0"/>
          </a:p>
        </p:txBody>
      </p:sp>
      <p:sp>
        <p:nvSpPr>
          <p:cNvPr id="3" name="文本框 2">
            <a:extLst>
              <a:ext uri="{FF2B5EF4-FFF2-40B4-BE49-F238E27FC236}">
                <a16:creationId xmlns:a16="http://schemas.microsoft.com/office/drawing/2014/main" id="{E802E0B0-2AB8-B94E-FB18-A8D3B605F9FE}"/>
              </a:ext>
            </a:extLst>
          </p:cNvPr>
          <p:cNvSpPr txBox="1"/>
          <p:nvPr/>
        </p:nvSpPr>
        <p:spPr>
          <a:xfrm>
            <a:off x="288290" y="4736263"/>
            <a:ext cx="11514243" cy="800219"/>
          </a:xfrm>
          <a:prstGeom prst="rect">
            <a:avLst/>
          </a:prstGeom>
          <a:noFill/>
        </p:spPr>
        <p:txBody>
          <a:bodyPr wrap="square" rtlCol="0">
            <a:spAutoFit/>
          </a:bodyPr>
          <a:lstStyle/>
          <a:p>
            <a:r>
              <a:rPr lang="en-US" altLang="zh-CN" sz="2800" b="1" dirty="0">
                <a:solidFill>
                  <a:srgbClr val="0025AA"/>
                </a:solidFill>
                <a:latin typeface="Arial" panose="020B0604020202090204" pitchFamily="34" charset="0"/>
                <a:cs typeface="Arial" panose="020B0604020202090204" pitchFamily="34" charset="0"/>
              </a:rPr>
              <a:t>4</a:t>
            </a:r>
            <a:r>
              <a:rPr lang="en-US" altLang="zh-CN" sz="2800" b="1" dirty="0">
                <a:solidFill>
                  <a:srgbClr val="0025AA"/>
                </a:solidFill>
                <a:latin typeface="Arial" panose="020B0604020202090204" pitchFamily="34" charset="0"/>
                <a:cs typeface="Arial" panose="020B0604020202090204" pitchFamily="34" charset="0"/>
                <a:sym typeface="Arial" panose="020B0604020202090204" pitchFamily="34" charset="0"/>
              </a:rPr>
              <a:t>. </a:t>
            </a:r>
            <a:r>
              <a:rPr lang="it-IT" altLang="zh-CN" sz="2800" b="1" dirty="0">
                <a:solidFill>
                  <a:srgbClr val="0025AA"/>
                </a:solidFill>
                <a:latin typeface="Arial" panose="020B0604020202090204" pitchFamily="34" charset="0"/>
                <a:cs typeface="Arial" panose="020B0604020202090204" pitchFamily="34" charset="0"/>
                <a:sym typeface="Arial" panose="020B0604020202090204" pitchFamily="34" charset="0"/>
              </a:rPr>
              <a:t>Multi-Core Heterogeneity: Natural Advantage in the AI Era</a:t>
            </a:r>
            <a:endParaRPr lang="en-US" altLang="zh-CN" sz="2800" b="1" dirty="0">
              <a:solidFill>
                <a:srgbClr val="0025AA"/>
              </a:solidFill>
              <a:latin typeface="Arial" panose="020B0604020202090204" pitchFamily="34" charset="0"/>
              <a:cs typeface="Arial" panose="020B0604020202090204" pitchFamily="34" charset="0"/>
              <a:sym typeface="Arial" panose="020B0604020202090204" pitchFamily="34" charset="0"/>
            </a:endParaRPr>
          </a:p>
          <a:p>
            <a:endParaRPr lang="zh-CN" altLang="en-US" dirty="0"/>
          </a:p>
        </p:txBody>
      </p:sp>
      <p:sp>
        <p:nvSpPr>
          <p:cNvPr id="6" name="文本框 5">
            <a:extLst>
              <a:ext uri="{FF2B5EF4-FFF2-40B4-BE49-F238E27FC236}">
                <a16:creationId xmlns:a16="http://schemas.microsoft.com/office/drawing/2014/main" id="{9FC61D14-25AA-497B-5D57-33CC7FEE3F97}"/>
              </a:ext>
            </a:extLst>
          </p:cNvPr>
          <p:cNvSpPr txBox="1"/>
          <p:nvPr/>
        </p:nvSpPr>
        <p:spPr>
          <a:xfrm>
            <a:off x="499534" y="5311216"/>
            <a:ext cx="10803468" cy="461665"/>
          </a:xfrm>
          <a:prstGeom prst="rect">
            <a:avLst/>
          </a:prstGeom>
          <a:noFill/>
        </p:spPr>
        <p:txBody>
          <a:bodyPr wrap="square" rtlCol="0">
            <a:spAutoFit/>
          </a:bodyPr>
          <a:lstStyle/>
          <a:p>
            <a:pPr marL="342900" indent="-342900">
              <a:buFont typeface="Wingdings" panose="05000000000000000000" pitchFamily="2" charset="2"/>
              <a:buChar char="Ø"/>
            </a:pPr>
            <a:r>
              <a:rPr lang="en-US" altLang="zh-CN" sz="2400" dirty="0"/>
              <a:t>Supports collaboration between CPUs and accelerators such as GPUs and NPUs.</a:t>
            </a:r>
            <a:endParaRPr lang="zh-CN" altLang="en-US" sz="2400" dirty="0"/>
          </a:p>
        </p:txBody>
      </p:sp>
    </p:spTree>
    <p:extLst>
      <p:ext uri="{BB962C8B-B14F-4D97-AF65-F5344CB8AC3E}">
        <p14:creationId xmlns:p14="http://schemas.microsoft.com/office/powerpoint/2010/main" val="3655785036"/>
      </p:ext>
    </p:extLst>
  </p:cSld>
  <p:clrMapOvr>
    <a:masterClrMapping/>
  </p:clrMapOvr>
  <mc:AlternateContent xmlns:mc="http://schemas.openxmlformats.org/markup-compatibility/2006" xmlns:p14="http://schemas.microsoft.com/office/powerpoint/2010/main">
    <mc:Choice Requires="p14">
      <p:transition spd="slow" p14:dur="1500" advClick="0" advTm="0"/>
    </mc:Choice>
    <mc:Fallback xmlns="">
      <p:transition spd="slow" advClick="0" advTm="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als of the course"/>
          <p:cNvSpPr txBox="1">
            <a:spLocks noGrp="1"/>
          </p:cNvSpPr>
          <p:nvPr/>
        </p:nvSpPr>
        <p:spPr>
          <a:xfrm>
            <a:off x="288290" y="273685"/>
            <a:ext cx="11609705" cy="1000760"/>
          </a:xfrm>
          <a:prstGeom prst="rect">
            <a:avLst/>
          </a:prstGeom>
          <a:ln w="12700">
            <a:miter lim="400000"/>
          </a:ln>
        </p:spPr>
        <p:txBody>
          <a:bodyPr lIns="0" tIns="0" rIns="0" bIns="0"/>
          <a:lstStyle>
            <a:lvl1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defRPr>
            </a:lvl1pPr>
            <a:lvl2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2pPr>
            <a:lvl3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3pPr>
            <a:lvl4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4pPr>
            <a:lvl5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5pPr>
            <a:lvl6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6pPr>
            <a:lvl7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7pPr>
            <a:lvl8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8pPr>
            <a:lvl9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9pPr>
          </a:lstStyle>
          <a:p>
            <a:r>
              <a:rPr lang="en-US" altLang="zh-CN" sz="3600">
                <a:ea typeface="宋体" pitchFamily="2" charset="-122"/>
              </a:rPr>
              <a:t>Application Scenarios</a:t>
            </a:r>
            <a:br>
              <a:rPr lang="en-US" altLang="zh-CN" sz="3600">
                <a:ea typeface="宋体" pitchFamily="2" charset="-122"/>
              </a:rPr>
            </a:br>
            <a:r>
              <a:rPr lang="en-US" altLang="zh-CN" sz="2800"/>
              <a:t>Embedded/AIoT: The Current Largest Application Market</a:t>
            </a:r>
            <a:endParaRPr lang="en-US" altLang="zh-CN" sz="3600"/>
          </a:p>
          <a:p>
            <a:endParaRPr lang="en-US" altLang="zh-CN" sz="3600">
              <a:ea typeface="宋体" pitchFamily="2" charset="-122"/>
            </a:endParaRPr>
          </a:p>
        </p:txBody>
      </p:sp>
      <p:sp>
        <p:nvSpPr>
          <p:cNvPr id="5" name="幻灯片编号"/>
          <p:cNvSpPr txBox="1">
            <a:spLocks noGrp="1"/>
          </p:cNvSpPr>
          <p:nvPr/>
        </p:nvSpPr>
        <p:spPr>
          <a:xfrm>
            <a:off x="10467260" y="6187968"/>
            <a:ext cx="504001" cy="177801"/>
          </a:xfrm>
          <a:prstGeom prst="rect">
            <a:avLst/>
          </a:prstGeom>
          <a:ln w="12700">
            <a:miter lim="400000"/>
          </a:ln>
        </p:spPr>
        <p:txBody>
          <a:bodyPr lIns="0" tIns="0" rIns="0" bIns="0" anchor="ctr">
            <a:spAutoFit/>
          </a:bodyPr>
          <a:lstStyle>
            <a:lvl1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defRPr>
            </a:lvl1pPr>
            <a:lvl2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2pPr>
            <a:lvl3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3pPr>
            <a:lvl4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4pPr>
            <a:lvl5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5pPr>
            <a:lvl6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6pPr>
            <a:lvl7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7pPr>
            <a:lvl8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8pPr>
            <a:lvl9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9pPr>
          </a:lstStyle>
          <a:p>
            <a:fld id="{86CB4B4D-7CA3-9044-876B-883B54F8677D}" type="slidenum">
              <a:rPr/>
              <a:t>9</a:t>
            </a:fld>
            <a:endParaRPr/>
          </a:p>
        </p:txBody>
      </p:sp>
      <p:sp>
        <p:nvSpPr>
          <p:cNvPr id="2" name="文本框 1"/>
          <p:cNvSpPr txBox="1"/>
          <p:nvPr/>
        </p:nvSpPr>
        <p:spPr>
          <a:xfrm>
            <a:off x="288290" y="1362075"/>
            <a:ext cx="11609070" cy="5003800"/>
          </a:xfrm>
          <a:prstGeom prst="rect">
            <a:avLst/>
          </a:prstGeom>
          <a:noFill/>
        </p:spPr>
        <p:txBody>
          <a:bodyPr wrap="square" rtlCol="0" anchor="t">
            <a:noAutofit/>
          </a:bodyPr>
          <a:lstStyle/>
          <a:p>
            <a:pPr algn="just"/>
            <a:endParaRPr lang="en-US" altLang="zh-CN" sz="2100"/>
          </a:p>
        </p:txBody>
      </p:sp>
      <p:sp>
        <p:nvSpPr>
          <p:cNvPr id="3" name="文本框 2"/>
          <p:cNvSpPr txBox="1"/>
          <p:nvPr/>
        </p:nvSpPr>
        <p:spPr>
          <a:xfrm>
            <a:off x="288290" y="1546860"/>
            <a:ext cx="11609070" cy="5003800"/>
          </a:xfrm>
          <a:prstGeom prst="rect">
            <a:avLst/>
          </a:prstGeom>
          <a:noFill/>
        </p:spPr>
        <p:txBody>
          <a:bodyPr wrap="square" rtlCol="0" anchor="t">
            <a:noAutofit/>
          </a:bodyPr>
          <a:lstStyle/>
          <a:p>
            <a:pPr algn="just"/>
            <a:r>
              <a:rPr lang="en-US" altLang="zh-CN" sz="2400" dirty="0"/>
              <a:t>By virtue of its low power consumption and customizable advantages, it occupies the core position of intelligent hardware:</a:t>
            </a:r>
          </a:p>
          <a:p>
            <a:pPr algn="just"/>
            <a:endParaRPr lang="en-US" altLang="zh-CN" sz="2400" dirty="0"/>
          </a:p>
          <a:p>
            <a:pPr marL="342900" indent="-342900" algn="just">
              <a:buFont typeface="Wingdings" panose="05000000000000000000" charset="0"/>
              <a:buChar char=""/>
            </a:pPr>
            <a:r>
              <a:rPr lang="en-US" altLang="zh-CN" sz="2400" b="1" dirty="0"/>
              <a:t>Smart Home</a:t>
            </a:r>
            <a:r>
              <a:rPr lang="en-US" altLang="zh-CN" sz="2400" dirty="0"/>
              <a:t>: </a:t>
            </a:r>
            <a:r>
              <a:rPr lang="en-US" altLang="zh-CN" sz="2400" dirty="0" err="1"/>
              <a:t>Quanzhi</a:t>
            </a:r>
            <a:r>
              <a:rPr lang="en-US" altLang="zh-CN" sz="2400" dirty="0"/>
              <a:t> Technology's T113 chip shipments exceed 100 million units, leading the smart home appliance market.</a:t>
            </a:r>
          </a:p>
          <a:p>
            <a:pPr marL="342900" indent="-342900" algn="just">
              <a:buFont typeface="Wingdings" panose="05000000000000000000" charset="0"/>
              <a:buChar char=""/>
            </a:pPr>
            <a:endParaRPr lang="en-US" altLang="zh-CN" sz="2400" dirty="0"/>
          </a:p>
          <a:p>
            <a:pPr marL="342900" indent="-342900" algn="just">
              <a:buFont typeface="Wingdings" panose="05000000000000000000" charset="0"/>
              <a:buChar char=""/>
            </a:pPr>
            <a:r>
              <a:rPr lang="en-US" altLang="zh-CN" sz="2400" b="1" dirty="0"/>
              <a:t>Industrial Control</a:t>
            </a:r>
            <a:r>
              <a:rPr lang="en-US" altLang="zh-CN" sz="2400" dirty="0"/>
              <a:t>: RISC-V chips from </a:t>
            </a:r>
            <a:r>
              <a:rPr lang="en-US" altLang="zh-CN" sz="2400" dirty="0" err="1"/>
              <a:t>Rockchip</a:t>
            </a:r>
            <a:r>
              <a:rPr lang="en-US" altLang="zh-CN" sz="2400" dirty="0"/>
              <a:t> are used for smart grid monitoring to meet the requirements of hard real-time scheduling.</a:t>
            </a:r>
          </a:p>
          <a:p>
            <a:pPr marL="342900" indent="-342900" algn="just">
              <a:buFont typeface="Wingdings" panose="05000000000000000000" charset="0"/>
              <a:buChar char=""/>
            </a:pPr>
            <a:endParaRPr lang="en-US" altLang="zh-CN" sz="2400" dirty="0"/>
          </a:p>
          <a:p>
            <a:pPr marL="342900" indent="-342900" algn="just">
              <a:buFont typeface="Wingdings" panose="05000000000000000000" charset="0"/>
              <a:buChar char=""/>
            </a:pPr>
            <a:r>
              <a:rPr lang="en-US" altLang="zh-CN" sz="2400" b="1" dirty="0"/>
              <a:t>Education</a:t>
            </a:r>
            <a:r>
              <a:rPr lang="en-US" altLang="zh-CN" sz="2400" dirty="0"/>
              <a:t>: </a:t>
            </a:r>
            <a:r>
              <a:rPr lang="en-US" altLang="zh-CN" sz="2400" dirty="0" err="1"/>
              <a:t>Zhongzhixun</a:t>
            </a:r>
            <a:r>
              <a:rPr lang="en-US" altLang="zh-CN" sz="2400" dirty="0"/>
              <a:t> SG2002 platform supports students to develop </a:t>
            </a:r>
            <a:r>
              <a:rPr lang="en-US" altLang="zh-CN" sz="2400" dirty="0" err="1"/>
              <a:t>AIoT</a:t>
            </a:r>
            <a:r>
              <a:rPr lang="en-US" altLang="zh-CN" sz="2400" dirty="0"/>
              <a:t> projects.</a:t>
            </a:r>
          </a:p>
        </p:txBody>
      </p:sp>
    </p:spTree>
  </p:cSld>
  <p:clrMapOvr>
    <a:masterClrMapping/>
  </p:clrMapOvr>
  <mc:AlternateContent xmlns:mc="http://schemas.openxmlformats.org/markup-compatibility/2006" xmlns:p14="http://schemas.microsoft.com/office/powerpoint/2010/main">
    <mc:Choice Requires="p14">
      <p:transition spd="slow" p14:dur="1500" advClick="0" advTm="0"/>
    </mc:Choice>
    <mc:Fallback xmlns="">
      <p:transition spd="slow" advClick="0" advTm="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als of the course"/>
          <p:cNvSpPr txBox="1">
            <a:spLocks noGrp="1"/>
          </p:cNvSpPr>
          <p:nvPr/>
        </p:nvSpPr>
        <p:spPr>
          <a:xfrm>
            <a:off x="288290" y="273685"/>
            <a:ext cx="11609705" cy="1000760"/>
          </a:xfrm>
          <a:prstGeom prst="rect">
            <a:avLst/>
          </a:prstGeom>
          <a:ln w="12700">
            <a:miter lim="400000"/>
          </a:ln>
        </p:spPr>
        <p:txBody>
          <a:bodyPr lIns="0" tIns="0" rIns="0" bIns="0"/>
          <a:lstStyle>
            <a:lvl1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defRPr>
            </a:lvl1pPr>
            <a:lvl2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2pPr>
            <a:lvl3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3pPr>
            <a:lvl4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4pPr>
            <a:lvl5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5pPr>
            <a:lvl6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6pPr>
            <a:lvl7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7pPr>
            <a:lvl8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8pPr>
            <a:lvl9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9pPr>
          </a:lstStyle>
          <a:p>
            <a:r>
              <a:rPr lang="en-US" altLang="zh-CN" sz="3600">
                <a:ea typeface="宋体" pitchFamily="2" charset="-122"/>
              </a:rPr>
              <a:t>Application Scenarios</a:t>
            </a:r>
            <a:br>
              <a:rPr lang="en-US" altLang="zh-CN" sz="3600">
                <a:ea typeface="宋体" pitchFamily="2" charset="-122"/>
              </a:rPr>
            </a:br>
            <a:r>
              <a:rPr lang="en-US" altLang="zh-CN" sz="2400"/>
              <a:t>AI Computing: From End-to-end Inference to Cloud based Large-scale Models</a:t>
            </a:r>
            <a:endParaRPr lang="en-US" altLang="zh-CN" sz="3600"/>
          </a:p>
          <a:p>
            <a:endParaRPr lang="en-US" altLang="zh-CN" sz="3600">
              <a:ea typeface="宋体" pitchFamily="2" charset="-122"/>
            </a:endParaRPr>
          </a:p>
        </p:txBody>
      </p:sp>
      <p:sp>
        <p:nvSpPr>
          <p:cNvPr id="5" name="幻灯片编号"/>
          <p:cNvSpPr txBox="1">
            <a:spLocks noGrp="1"/>
          </p:cNvSpPr>
          <p:nvPr/>
        </p:nvSpPr>
        <p:spPr>
          <a:xfrm>
            <a:off x="10467260" y="6187968"/>
            <a:ext cx="504001" cy="177801"/>
          </a:xfrm>
          <a:prstGeom prst="rect">
            <a:avLst/>
          </a:prstGeom>
          <a:ln w="12700">
            <a:miter lim="400000"/>
          </a:ln>
        </p:spPr>
        <p:txBody>
          <a:bodyPr lIns="0" tIns="0" rIns="0" bIns="0" anchor="ctr">
            <a:spAutoFit/>
          </a:bodyPr>
          <a:lstStyle>
            <a:lvl1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defRPr>
            </a:lvl1pPr>
            <a:lvl2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2pPr>
            <a:lvl3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3pPr>
            <a:lvl4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4pPr>
            <a:lvl5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5pPr>
            <a:lvl6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6pPr>
            <a:lvl7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7pPr>
            <a:lvl8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8pPr>
            <a:lvl9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9pPr>
          </a:lstStyle>
          <a:p>
            <a:fld id="{86CB4B4D-7CA3-9044-876B-883B54F8677D}" type="slidenum">
              <a:rPr/>
              <a:t>10</a:t>
            </a:fld>
            <a:endParaRPr/>
          </a:p>
        </p:txBody>
      </p:sp>
      <p:sp>
        <p:nvSpPr>
          <p:cNvPr id="2" name="文本框 1"/>
          <p:cNvSpPr txBox="1"/>
          <p:nvPr/>
        </p:nvSpPr>
        <p:spPr>
          <a:xfrm>
            <a:off x="288290" y="1362075"/>
            <a:ext cx="11609070" cy="5003800"/>
          </a:xfrm>
          <a:prstGeom prst="rect">
            <a:avLst/>
          </a:prstGeom>
          <a:noFill/>
        </p:spPr>
        <p:txBody>
          <a:bodyPr wrap="square" rtlCol="0" anchor="t">
            <a:noAutofit/>
          </a:bodyPr>
          <a:lstStyle/>
          <a:p>
            <a:pPr algn="just"/>
            <a:endParaRPr lang="en-US" altLang="zh-CN" sz="2100"/>
          </a:p>
        </p:txBody>
      </p:sp>
      <p:sp>
        <p:nvSpPr>
          <p:cNvPr id="3" name="文本框 2"/>
          <p:cNvSpPr txBox="1"/>
          <p:nvPr/>
        </p:nvSpPr>
        <p:spPr>
          <a:xfrm>
            <a:off x="288290" y="1546860"/>
            <a:ext cx="11609070" cy="5003800"/>
          </a:xfrm>
          <a:prstGeom prst="rect">
            <a:avLst/>
          </a:prstGeom>
          <a:noFill/>
        </p:spPr>
        <p:txBody>
          <a:bodyPr wrap="square" rtlCol="0" anchor="t">
            <a:noAutofit/>
          </a:bodyPr>
          <a:lstStyle/>
          <a:p>
            <a:pPr algn="just"/>
            <a:r>
              <a:rPr lang="en-US" altLang="zh-CN" sz="2400"/>
              <a:t>Vector extension (RVV) and custom instructions have become core competencies:</a:t>
            </a:r>
          </a:p>
          <a:p>
            <a:pPr algn="just"/>
            <a:endParaRPr lang="en-US" altLang="zh-CN" sz="2400"/>
          </a:p>
          <a:p>
            <a:pPr marL="342900" indent="-342900" algn="just">
              <a:buFont typeface="Wingdings" panose="05000000000000000000" charset="0"/>
              <a:buChar char=""/>
            </a:pPr>
            <a:r>
              <a:rPr lang="en-US" altLang="zh-CN" sz="2400" b="1"/>
              <a:t>Edge Inference</a:t>
            </a:r>
            <a:r>
              <a:rPr lang="en-US" altLang="zh-CN" sz="2400"/>
              <a:t>: Alibaba Xuantie C920 runs DeepSeek-R1 model with a latency of less than 20ms.</a:t>
            </a:r>
          </a:p>
          <a:p>
            <a:pPr algn="just"/>
            <a:endParaRPr lang="en-US" altLang="zh-CN" sz="2400"/>
          </a:p>
          <a:p>
            <a:pPr marL="342900" indent="-342900" algn="just">
              <a:buFont typeface="Wingdings" panose="05000000000000000000" charset="0"/>
              <a:buChar char=""/>
            </a:pPr>
            <a:r>
              <a:rPr lang="en-US" altLang="zh-CN" sz="2400" b="1"/>
              <a:t>Cloud-based Large-scale Models</a:t>
            </a:r>
            <a:r>
              <a:rPr lang="en-US" altLang="zh-CN" sz="2400"/>
              <a:t>: Xuantie C930 supports billions of parameters model inference. Xuantie TITAN vector engine achieves 4096-bit expandable length.</a:t>
            </a:r>
          </a:p>
          <a:p>
            <a:pPr algn="just"/>
            <a:endParaRPr lang="en-US" altLang="zh-CN" sz="2400"/>
          </a:p>
          <a:p>
            <a:pPr marL="342900" indent="-342900" algn="just">
              <a:buFont typeface="Wingdings" panose="05000000000000000000" charset="0"/>
              <a:buChar char=""/>
            </a:pPr>
            <a:r>
              <a:rPr lang="en-US" altLang="zh-CN" sz="2400" b="1"/>
              <a:t>Control Core</a:t>
            </a:r>
            <a:r>
              <a:rPr lang="en-US" altLang="zh-CN" sz="2400"/>
              <a:t>: NVIDIA GPU adopts RISC-V core management resources, with millions of units shipped annually.</a:t>
            </a:r>
          </a:p>
        </p:txBody>
      </p:sp>
    </p:spTree>
  </p:cSld>
  <p:clrMapOvr>
    <a:masterClrMapping/>
  </p:clrMapOvr>
  <mc:AlternateContent xmlns:mc="http://schemas.openxmlformats.org/markup-compatibility/2006" xmlns:p14="http://schemas.microsoft.com/office/powerpoint/2010/main">
    <mc:Choice Requires="p14">
      <p:transition spd="slow" p14:dur="1500" advClick="0" advTm="0"/>
    </mc:Choice>
    <mc:Fallback xmlns="">
      <p:transition spd="slow" advClick="0" advTm="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als of the course"/>
          <p:cNvSpPr txBox="1">
            <a:spLocks noGrp="1"/>
          </p:cNvSpPr>
          <p:nvPr/>
        </p:nvSpPr>
        <p:spPr>
          <a:xfrm>
            <a:off x="288290" y="273685"/>
            <a:ext cx="11609705" cy="1000760"/>
          </a:xfrm>
          <a:prstGeom prst="rect">
            <a:avLst/>
          </a:prstGeom>
          <a:ln w="12700">
            <a:miter lim="400000"/>
          </a:ln>
        </p:spPr>
        <p:txBody>
          <a:bodyPr lIns="0" tIns="0" rIns="0" bIns="0"/>
          <a:lstStyle>
            <a:lvl1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defRPr>
            </a:lvl1pPr>
            <a:lvl2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2pPr>
            <a:lvl3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3pPr>
            <a:lvl4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4pPr>
            <a:lvl5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5pPr>
            <a:lvl6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6pPr>
            <a:lvl7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7pPr>
            <a:lvl8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8pPr>
            <a:lvl9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9pPr>
          </a:lstStyle>
          <a:p>
            <a:r>
              <a:rPr lang="en-US" altLang="zh-CN" sz="3600">
                <a:ea typeface="宋体" pitchFamily="2" charset="-122"/>
              </a:rPr>
              <a:t>Application Scenarios</a:t>
            </a:r>
            <a:br>
              <a:rPr lang="en-US" altLang="zh-CN" sz="3600">
                <a:ea typeface="宋体" pitchFamily="2" charset="-122"/>
              </a:rPr>
            </a:br>
            <a:r>
              <a:rPr lang="en-US" altLang="zh-CN" sz="2800"/>
              <a:t>Server: A New Force Breaking the x86/ARM Monopoly</a:t>
            </a:r>
            <a:endParaRPr lang="en-US" altLang="zh-CN" sz="3600"/>
          </a:p>
          <a:p>
            <a:endParaRPr lang="en-US" altLang="zh-CN" sz="3600">
              <a:ea typeface="宋体" pitchFamily="2" charset="-122"/>
            </a:endParaRPr>
          </a:p>
        </p:txBody>
      </p:sp>
      <p:sp>
        <p:nvSpPr>
          <p:cNvPr id="5" name="幻灯片编号"/>
          <p:cNvSpPr txBox="1">
            <a:spLocks noGrp="1"/>
          </p:cNvSpPr>
          <p:nvPr/>
        </p:nvSpPr>
        <p:spPr>
          <a:xfrm>
            <a:off x="10467260" y="6187968"/>
            <a:ext cx="504001" cy="177801"/>
          </a:xfrm>
          <a:prstGeom prst="rect">
            <a:avLst/>
          </a:prstGeom>
          <a:ln w="12700">
            <a:miter lim="400000"/>
          </a:ln>
        </p:spPr>
        <p:txBody>
          <a:bodyPr lIns="0" tIns="0" rIns="0" bIns="0" anchor="ctr">
            <a:spAutoFit/>
          </a:bodyPr>
          <a:lstStyle>
            <a:lvl1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defRPr>
            </a:lvl1pPr>
            <a:lvl2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2pPr>
            <a:lvl3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3pPr>
            <a:lvl4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4pPr>
            <a:lvl5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5pPr>
            <a:lvl6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6pPr>
            <a:lvl7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7pPr>
            <a:lvl8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8pPr>
            <a:lvl9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9pPr>
          </a:lstStyle>
          <a:p>
            <a:fld id="{86CB4B4D-7CA3-9044-876B-883B54F8677D}" type="slidenum">
              <a:rPr/>
              <a:t>11</a:t>
            </a:fld>
            <a:endParaRPr/>
          </a:p>
        </p:txBody>
      </p:sp>
      <p:sp>
        <p:nvSpPr>
          <p:cNvPr id="2" name="文本框 1"/>
          <p:cNvSpPr txBox="1"/>
          <p:nvPr/>
        </p:nvSpPr>
        <p:spPr>
          <a:xfrm>
            <a:off x="288290" y="1362075"/>
            <a:ext cx="11609070" cy="5003800"/>
          </a:xfrm>
          <a:prstGeom prst="rect">
            <a:avLst/>
          </a:prstGeom>
          <a:noFill/>
        </p:spPr>
        <p:txBody>
          <a:bodyPr wrap="square" rtlCol="0" anchor="t">
            <a:noAutofit/>
          </a:bodyPr>
          <a:lstStyle/>
          <a:p>
            <a:pPr algn="just"/>
            <a:endParaRPr lang="en-US" altLang="zh-CN" sz="2100"/>
          </a:p>
        </p:txBody>
      </p:sp>
      <p:sp>
        <p:nvSpPr>
          <p:cNvPr id="3" name="文本框 2"/>
          <p:cNvSpPr txBox="1"/>
          <p:nvPr/>
        </p:nvSpPr>
        <p:spPr>
          <a:xfrm>
            <a:off x="288290" y="1546860"/>
            <a:ext cx="11609070" cy="5003800"/>
          </a:xfrm>
          <a:prstGeom prst="rect">
            <a:avLst/>
          </a:prstGeom>
          <a:noFill/>
        </p:spPr>
        <p:txBody>
          <a:bodyPr wrap="square" rtlCol="0" anchor="t">
            <a:noAutofit/>
          </a:bodyPr>
          <a:lstStyle/>
          <a:p>
            <a:pPr algn="just"/>
            <a:r>
              <a:rPr lang="en-US" altLang="zh-CN" sz="2400"/>
              <a:t>The cost and performance advantages are highlighted, gradually entering the fields of government affairs and scientific computing:</a:t>
            </a:r>
          </a:p>
          <a:p>
            <a:pPr algn="just"/>
            <a:endParaRPr lang="en-US" altLang="zh-CN" sz="2400"/>
          </a:p>
          <a:p>
            <a:pPr marL="342900" indent="-342900" algn="just">
              <a:buFont typeface="Wingdings" panose="05000000000000000000" charset="0"/>
              <a:buChar char=""/>
            </a:pPr>
            <a:r>
              <a:rPr lang="en-US" altLang="zh-CN" sz="2400" b="1"/>
              <a:t>Cost Advantage</a:t>
            </a:r>
            <a:r>
              <a:rPr lang="en-US" altLang="zh-CN" sz="2400"/>
              <a:t>: The cost of RISC-V server chips is only 60% of x86, and the cost of </a:t>
            </a:r>
            <a:r>
              <a:rPr lang="en-US" altLang="zh-CN" sz="2400">
                <a:sym typeface="+mn-ea"/>
              </a:rPr>
              <a:t>Pingtouge C930 BOM </a:t>
            </a:r>
            <a:r>
              <a:rPr lang="en-US" altLang="zh-CN" sz="2400"/>
              <a:t>is 30% lower than AWS Graviton.</a:t>
            </a:r>
          </a:p>
          <a:p>
            <a:pPr marL="342900" indent="-342900" algn="just">
              <a:buFont typeface="Wingdings" panose="05000000000000000000" charset="0"/>
              <a:buChar char=""/>
            </a:pPr>
            <a:endParaRPr lang="en-US" altLang="zh-CN" sz="2400"/>
          </a:p>
          <a:p>
            <a:pPr marL="342900" indent="-342900" algn="just">
              <a:buFont typeface="Wingdings" panose="05000000000000000000" charset="0"/>
              <a:buChar char=""/>
            </a:pPr>
            <a:r>
              <a:rPr lang="en-US" altLang="zh-CN" sz="2400" b="1"/>
              <a:t>Cases</a:t>
            </a:r>
            <a:r>
              <a:rPr lang="en-US" altLang="zh-CN" sz="2400"/>
              <a:t>: China Telecom's government servers are based on Xuantie C930, which triples computing power density and reduces energy consumption by 25%. The "Xiangshan" processor from the Chinese Academy of Sciences is used for climate simulation, with ten billion floating-point operations per second.</a:t>
            </a:r>
          </a:p>
        </p:txBody>
      </p:sp>
    </p:spTree>
  </p:cSld>
  <p:clrMapOvr>
    <a:masterClrMapping/>
  </p:clrMapOvr>
  <mc:AlternateContent xmlns:mc="http://schemas.openxmlformats.org/markup-compatibility/2006" xmlns:p14="http://schemas.microsoft.com/office/powerpoint/2010/main">
    <mc:Choice Requires="p14">
      <p:transition spd="slow" p14:dur="1500" advClick="0" advTm="0"/>
    </mc:Choice>
    <mc:Fallback xmlns="">
      <p:transition spd="slow" advClick="0" advTm="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als of the course"/>
          <p:cNvSpPr txBox="1">
            <a:spLocks noGrp="1"/>
          </p:cNvSpPr>
          <p:nvPr/>
        </p:nvSpPr>
        <p:spPr>
          <a:xfrm>
            <a:off x="288290" y="273685"/>
            <a:ext cx="11609705" cy="1000760"/>
          </a:xfrm>
          <a:prstGeom prst="rect">
            <a:avLst/>
          </a:prstGeom>
          <a:ln w="12700">
            <a:miter lim="400000"/>
          </a:ln>
        </p:spPr>
        <p:txBody>
          <a:bodyPr lIns="0" tIns="0" rIns="0" bIns="0"/>
          <a:lstStyle>
            <a:lvl1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defRPr>
            </a:lvl1pPr>
            <a:lvl2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2pPr>
            <a:lvl3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3pPr>
            <a:lvl4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4pPr>
            <a:lvl5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5pPr>
            <a:lvl6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6pPr>
            <a:lvl7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7pPr>
            <a:lvl8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8pPr>
            <a:lvl9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9pPr>
          </a:lstStyle>
          <a:p>
            <a:r>
              <a:rPr lang="en-US" altLang="zh-CN" sz="3600">
                <a:ea typeface="宋体" pitchFamily="2" charset="-122"/>
              </a:rPr>
              <a:t>Application Scenarios</a:t>
            </a:r>
            <a:br>
              <a:rPr lang="en-US" altLang="zh-CN" sz="3600">
                <a:ea typeface="宋体" pitchFamily="2" charset="-122"/>
              </a:rPr>
            </a:br>
            <a:r>
              <a:rPr lang="en-US" altLang="zh-CN" sz="2800"/>
              <a:t>Other Scenarios: From Consumer Electronics to Space Exploration</a:t>
            </a:r>
            <a:endParaRPr lang="en-US" altLang="zh-CN" sz="3600"/>
          </a:p>
          <a:p>
            <a:endParaRPr lang="en-US" altLang="zh-CN" sz="3600">
              <a:ea typeface="宋体" pitchFamily="2" charset="-122"/>
            </a:endParaRPr>
          </a:p>
        </p:txBody>
      </p:sp>
      <p:sp>
        <p:nvSpPr>
          <p:cNvPr id="5" name="幻灯片编号"/>
          <p:cNvSpPr txBox="1">
            <a:spLocks noGrp="1"/>
          </p:cNvSpPr>
          <p:nvPr/>
        </p:nvSpPr>
        <p:spPr>
          <a:xfrm>
            <a:off x="10467260" y="6187968"/>
            <a:ext cx="504001" cy="177801"/>
          </a:xfrm>
          <a:prstGeom prst="rect">
            <a:avLst/>
          </a:prstGeom>
          <a:ln w="12700">
            <a:miter lim="400000"/>
          </a:ln>
        </p:spPr>
        <p:txBody>
          <a:bodyPr lIns="0" tIns="0" rIns="0" bIns="0" anchor="ctr">
            <a:spAutoFit/>
          </a:bodyPr>
          <a:lstStyle>
            <a:lvl1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defRPr>
            </a:lvl1pPr>
            <a:lvl2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2pPr>
            <a:lvl3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3pPr>
            <a:lvl4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4pPr>
            <a:lvl5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5pPr>
            <a:lvl6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6pPr>
            <a:lvl7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7pPr>
            <a:lvl8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8pPr>
            <a:lvl9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9pPr>
          </a:lstStyle>
          <a:p>
            <a:fld id="{86CB4B4D-7CA3-9044-876B-883B54F8677D}" type="slidenum">
              <a:rPr/>
              <a:t>12</a:t>
            </a:fld>
            <a:endParaRPr/>
          </a:p>
        </p:txBody>
      </p:sp>
      <p:sp>
        <p:nvSpPr>
          <p:cNvPr id="2" name="文本框 1"/>
          <p:cNvSpPr txBox="1"/>
          <p:nvPr/>
        </p:nvSpPr>
        <p:spPr>
          <a:xfrm>
            <a:off x="288290" y="1362075"/>
            <a:ext cx="11609070" cy="5003800"/>
          </a:xfrm>
          <a:prstGeom prst="rect">
            <a:avLst/>
          </a:prstGeom>
          <a:noFill/>
        </p:spPr>
        <p:txBody>
          <a:bodyPr wrap="square" rtlCol="0" anchor="t">
            <a:noAutofit/>
          </a:bodyPr>
          <a:lstStyle/>
          <a:p>
            <a:pPr algn="just"/>
            <a:endParaRPr lang="en-US" altLang="zh-CN" sz="2100"/>
          </a:p>
        </p:txBody>
      </p:sp>
      <p:sp>
        <p:nvSpPr>
          <p:cNvPr id="3" name="文本框 2"/>
          <p:cNvSpPr txBox="1"/>
          <p:nvPr/>
        </p:nvSpPr>
        <p:spPr>
          <a:xfrm>
            <a:off x="288290" y="1546860"/>
            <a:ext cx="11609070" cy="5003800"/>
          </a:xfrm>
          <a:prstGeom prst="rect">
            <a:avLst/>
          </a:prstGeom>
          <a:noFill/>
        </p:spPr>
        <p:txBody>
          <a:bodyPr wrap="square" rtlCol="0" anchor="t">
            <a:noAutofit/>
          </a:bodyPr>
          <a:lstStyle/>
          <a:p>
            <a:pPr algn="just"/>
            <a:endParaRPr lang="en-US" altLang="zh-CN" sz="2400"/>
          </a:p>
          <a:p>
            <a:pPr algn="just"/>
            <a:endParaRPr lang="en-US" altLang="zh-CN" sz="2400"/>
          </a:p>
          <a:p>
            <a:pPr algn="just"/>
            <a:endParaRPr lang="en-US" altLang="zh-CN" sz="2400"/>
          </a:p>
          <a:p>
            <a:pPr marL="342900" indent="-342900" algn="just">
              <a:buFont typeface="Wingdings" panose="05000000000000000000" charset="0"/>
              <a:buChar char=""/>
            </a:pPr>
            <a:r>
              <a:rPr lang="en-US" altLang="zh-CN" sz="2400" b="1"/>
              <a:t>Consumer Electronics</a:t>
            </a:r>
            <a:r>
              <a:rPr lang="en-US" altLang="zh-CN" sz="2400"/>
              <a:t>: The first RISC-V laptop Roma and handheld gaming devices have been released one after another</a:t>
            </a:r>
          </a:p>
          <a:p>
            <a:pPr marL="342900" indent="-342900" algn="just">
              <a:buFont typeface="Wingdings" panose="05000000000000000000" charset="0"/>
              <a:buChar char=""/>
            </a:pPr>
            <a:endParaRPr lang="en-US" altLang="zh-CN" sz="2400"/>
          </a:p>
          <a:p>
            <a:pPr marL="342900" indent="-342900" algn="just">
              <a:buFont typeface="Wingdings" panose="05000000000000000000" charset="0"/>
              <a:buChar char=""/>
            </a:pPr>
            <a:endParaRPr lang="en-US" altLang="zh-CN" sz="2400"/>
          </a:p>
          <a:p>
            <a:pPr marL="342900" indent="-342900" algn="just">
              <a:buFont typeface="Wingdings" panose="05000000000000000000" charset="0"/>
              <a:buChar char=""/>
            </a:pPr>
            <a:r>
              <a:rPr lang="en-US" altLang="zh-CN" sz="2400" b="1"/>
              <a:t>Space Application</a:t>
            </a:r>
            <a:r>
              <a:rPr lang="en-US" altLang="zh-CN" sz="2400"/>
              <a:t>: European TrisAT-R nanosatellites equipped with fault-tolerant Noel-V processor</a:t>
            </a:r>
          </a:p>
        </p:txBody>
      </p:sp>
    </p:spTree>
  </p:cSld>
  <p:clrMapOvr>
    <a:masterClrMapping/>
  </p:clrMapOvr>
  <mc:AlternateContent xmlns:mc="http://schemas.openxmlformats.org/markup-compatibility/2006" xmlns:p14="http://schemas.microsoft.com/office/powerpoint/2010/main">
    <mc:Choice Requires="p14">
      <p:transition spd="slow" p14:dur="1500" advClick="0" advTm="0"/>
    </mc:Choice>
    <mc:Fallback xmlns="">
      <p:transition spd="slow" advClick="0" advTm="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als of the course"/>
          <p:cNvSpPr txBox="1">
            <a:spLocks noGrp="1"/>
          </p:cNvSpPr>
          <p:nvPr/>
        </p:nvSpPr>
        <p:spPr>
          <a:xfrm>
            <a:off x="288290" y="273685"/>
            <a:ext cx="11609705" cy="1000760"/>
          </a:xfrm>
          <a:prstGeom prst="rect">
            <a:avLst/>
          </a:prstGeom>
          <a:ln w="12700">
            <a:miter lim="400000"/>
          </a:ln>
        </p:spPr>
        <p:txBody>
          <a:bodyPr lIns="0" tIns="0" rIns="0" bIns="0"/>
          <a:lstStyle>
            <a:lvl1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defRPr>
            </a:lvl1pPr>
            <a:lvl2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2pPr>
            <a:lvl3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3pPr>
            <a:lvl4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4pPr>
            <a:lvl5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5pPr>
            <a:lvl6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6pPr>
            <a:lvl7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7pPr>
            <a:lvl8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8pPr>
            <a:lvl9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9pPr>
          </a:lstStyle>
          <a:p>
            <a:r>
              <a:rPr lang="en-US" altLang="zh-CN" sz="3600">
                <a:ea typeface="宋体" pitchFamily="2" charset="-122"/>
              </a:rPr>
              <a:t>Ecological Status and Future Trends</a:t>
            </a:r>
            <a:br>
              <a:rPr lang="en-US" altLang="zh-CN" sz="3600">
                <a:ea typeface="宋体" pitchFamily="2" charset="-122"/>
              </a:rPr>
            </a:br>
            <a:r>
              <a:rPr lang="en-US" altLang="zh-CN" sz="2800"/>
              <a:t>Ecological Pattern: Global Collaboration and China is Making Efforts</a:t>
            </a:r>
          </a:p>
          <a:p>
            <a:endParaRPr lang="en-US" altLang="zh-CN" sz="2800">
              <a:ea typeface="宋体" pitchFamily="2" charset="-122"/>
            </a:endParaRPr>
          </a:p>
        </p:txBody>
      </p:sp>
      <p:sp>
        <p:nvSpPr>
          <p:cNvPr id="5" name="幻灯片编号"/>
          <p:cNvSpPr txBox="1">
            <a:spLocks noGrp="1"/>
          </p:cNvSpPr>
          <p:nvPr/>
        </p:nvSpPr>
        <p:spPr>
          <a:xfrm>
            <a:off x="10467260" y="6187968"/>
            <a:ext cx="504001" cy="177801"/>
          </a:xfrm>
          <a:prstGeom prst="rect">
            <a:avLst/>
          </a:prstGeom>
          <a:ln w="12700">
            <a:miter lim="400000"/>
          </a:ln>
        </p:spPr>
        <p:txBody>
          <a:bodyPr lIns="0" tIns="0" rIns="0" bIns="0" anchor="ctr">
            <a:spAutoFit/>
          </a:bodyPr>
          <a:lstStyle>
            <a:lvl1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defRPr>
            </a:lvl1pPr>
            <a:lvl2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2pPr>
            <a:lvl3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3pPr>
            <a:lvl4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4pPr>
            <a:lvl5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5pPr>
            <a:lvl6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6pPr>
            <a:lvl7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7pPr>
            <a:lvl8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8pPr>
            <a:lvl9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9pPr>
          </a:lstStyle>
          <a:p>
            <a:fld id="{86CB4B4D-7CA3-9044-876B-883B54F8677D}" type="slidenum">
              <a:rPr/>
              <a:t>13</a:t>
            </a:fld>
            <a:endParaRPr/>
          </a:p>
        </p:txBody>
      </p:sp>
      <p:sp>
        <p:nvSpPr>
          <p:cNvPr id="2" name="文本框 1"/>
          <p:cNvSpPr txBox="1"/>
          <p:nvPr/>
        </p:nvSpPr>
        <p:spPr>
          <a:xfrm>
            <a:off x="288290" y="1362075"/>
            <a:ext cx="11609070" cy="5003800"/>
          </a:xfrm>
          <a:prstGeom prst="rect">
            <a:avLst/>
          </a:prstGeom>
          <a:noFill/>
        </p:spPr>
        <p:txBody>
          <a:bodyPr wrap="square" rtlCol="0" anchor="t">
            <a:noAutofit/>
          </a:bodyPr>
          <a:lstStyle/>
          <a:p>
            <a:pPr algn="just"/>
            <a:endParaRPr lang="en-US" altLang="zh-CN" sz="2100"/>
          </a:p>
        </p:txBody>
      </p:sp>
      <p:sp>
        <p:nvSpPr>
          <p:cNvPr id="3" name="文本框 2"/>
          <p:cNvSpPr txBox="1"/>
          <p:nvPr/>
        </p:nvSpPr>
        <p:spPr>
          <a:xfrm>
            <a:off x="288290" y="1546860"/>
            <a:ext cx="11609070" cy="5003800"/>
          </a:xfrm>
          <a:prstGeom prst="rect">
            <a:avLst/>
          </a:prstGeom>
          <a:noFill/>
        </p:spPr>
        <p:txBody>
          <a:bodyPr wrap="square" rtlCol="0" anchor="t">
            <a:noAutofit/>
          </a:bodyPr>
          <a:lstStyle/>
          <a:p>
            <a:pPr algn="just"/>
            <a:endParaRPr lang="en-US" altLang="zh-CN" sz="2400" dirty="0"/>
          </a:p>
          <a:p>
            <a:pPr algn="just"/>
            <a:endParaRPr lang="en-US" altLang="zh-CN" sz="2400" dirty="0"/>
          </a:p>
          <a:p>
            <a:pPr algn="just"/>
            <a:endParaRPr lang="en-US" altLang="zh-CN" sz="2400" dirty="0"/>
          </a:p>
          <a:p>
            <a:pPr marL="342900" indent="-342900" algn="just">
              <a:buFont typeface="Wingdings" panose="05000000000000000000" charset="0"/>
              <a:buChar char=""/>
            </a:pPr>
            <a:r>
              <a:rPr lang="en-US" altLang="zh-CN" sz="2400" b="1" dirty="0"/>
              <a:t>Global</a:t>
            </a:r>
            <a:r>
              <a:rPr lang="en-US" altLang="zh-CN" sz="2400" dirty="0"/>
              <a:t>: RISC-V International leads standard setting, with deep participation from giants such as NVIDIA, Intel, AMD, and startups like </a:t>
            </a:r>
            <a:r>
              <a:rPr lang="en-US" altLang="zh-CN" sz="2400" dirty="0" err="1"/>
              <a:t>Tenstorrent</a:t>
            </a:r>
            <a:r>
              <a:rPr lang="en-US" altLang="zh-CN" sz="2400" dirty="0"/>
              <a:t> and </a:t>
            </a:r>
            <a:r>
              <a:rPr lang="en-US" altLang="zh-CN" sz="2400" dirty="0" err="1"/>
              <a:t>SiFive</a:t>
            </a:r>
            <a:r>
              <a:rPr lang="en-US" altLang="zh-CN" sz="2400" dirty="0"/>
              <a:t> breaking through technological bottlenecks.</a:t>
            </a:r>
          </a:p>
          <a:p>
            <a:pPr marL="342900" indent="-342900" algn="just">
              <a:buFont typeface="Wingdings" panose="05000000000000000000" charset="0"/>
              <a:buChar char=""/>
            </a:pPr>
            <a:endParaRPr lang="en-US" altLang="zh-CN" sz="2400" dirty="0"/>
          </a:p>
          <a:p>
            <a:pPr marL="342900" indent="-342900" algn="just">
              <a:buFont typeface="Wingdings" panose="05000000000000000000" charset="0"/>
              <a:buChar char=""/>
            </a:pPr>
            <a:endParaRPr lang="en-US" altLang="zh-CN" sz="2400" dirty="0"/>
          </a:p>
          <a:p>
            <a:pPr marL="342900" indent="-342900" algn="just">
              <a:buFont typeface="Wingdings" panose="05000000000000000000" charset="0"/>
              <a:buChar char=""/>
            </a:pPr>
            <a:r>
              <a:rPr lang="en-US" altLang="zh-CN" sz="2400" b="1" dirty="0"/>
              <a:t>China</a:t>
            </a:r>
            <a:r>
              <a:rPr lang="en-US" altLang="zh-CN" sz="2400" dirty="0"/>
              <a:t>: Alibaba (</a:t>
            </a:r>
            <a:r>
              <a:rPr lang="en-US" altLang="zh-CN" sz="2400" dirty="0" err="1"/>
              <a:t>Xuantie</a:t>
            </a:r>
            <a:r>
              <a:rPr lang="en-US" altLang="zh-CN" sz="2400" dirty="0"/>
              <a:t>), Huawei, </a:t>
            </a:r>
            <a:r>
              <a:rPr lang="en-US" altLang="zh-CN" sz="2400" dirty="0" err="1"/>
              <a:t>Cambricon</a:t>
            </a:r>
            <a:r>
              <a:rPr lang="en-US" altLang="zh-CN" sz="2400" dirty="0"/>
              <a:t> (SG2042/2044), Nuclei Technology and other enterprises lead the way, covering the entire chain from </a:t>
            </a:r>
            <a:r>
              <a:rPr lang="en-US" altLang="zh-CN" sz="2400" dirty="0" err="1"/>
              <a:t>AIoT</a:t>
            </a:r>
            <a:r>
              <a:rPr lang="en-US" altLang="zh-CN" sz="2400" dirty="0"/>
              <a:t> to servers in application scenarios.</a:t>
            </a:r>
          </a:p>
        </p:txBody>
      </p:sp>
    </p:spTree>
  </p:cSld>
  <p:clrMapOvr>
    <a:masterClrMapping/>
  </p:clrMapOvr>
  <mc:AlternateContent xmlns:mc="http://schemas.openxmlformats.org/markup-compatibility/2006" xmlns:p14="http://schemas.microsoft.com/office/powerpoint/2010/main">
    <mc:Choice Requires="p14">
      <p:transition spd="slow" p14:dur="1500" advClick="0" advTm="0"/>
    </mc:Choice>
    <mc:Fallback xmlns="">
      <p:transition spd="slow" advClick="0" advTm="0"/>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als of the course"/>
          <p:cNvSpPr txBox="1">
            <a:spLocks noGrp="1"/>
          </p:cNvSpPr>
          <p:nvPr/>
        </p:nvSpPr>
        <p:spPr>
          <a:xfrm>
            <a:off x="288290" y="273685"/>
            <a:ext cx="11609705" cy="1000760"/>
          </a:xfrm>
          <a:prstGeom prst="rect">
            <a:avLst/>
          </a:prstGeom>
          <a:ln w="12700">
            <a:miter lim="400000"/>
          </a:ln>
        </p:spPr>
        <p:txBody>
          <a:bodyPr lIns="0" tIns="0" rIns="0" bIns="0"/>
          <a:lstStyle>
            <a:lvl1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defRPr>
            </a:lvl1pPr>
            <a:lvl2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2pPr>
            <a:lvl3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3pPr>
            <a:lvl4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4pPr>
            <a:lvl5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5pPr>
            <a:lvl6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6pPr>
            <a:lvl7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7pPr>
            <a:lvl8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8pPr>
            <a:lvl9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9pPr>
          </a:lstStyle>
          <a:p>
            <a:r>
              <a:rPr lang="en-US" altLang="zh-CN" sz="3600">
                <a:ea typeface="宋体" pitchFamily="2" charset="-122"/>
              </a:rPr>
              <a:t>Ecological Status and Future Trends</a:t>
            </a:r>
            <a:br>
              <a:rPr lang="en-US" altLang="zh-CN" sz="3600">
                <a:ea typeface="宋体" pitchFamily="2" charset="-122"/>
              </a:rPr>
            </a:br>
            <a:r>
              <a:rPr lang="en-US" altLang="zh-CN" sz="2800"/>
              <a:t>Market Prospects: The Golden Track of High-speed Growth</a:t>
            </a:r>
          </a:p>
          <a:p>
            <a:endParaRPr lang="en-US" altLang="zh-CN" sz="2800">
              <a:ea typeface="宋体" pitchFamily="2" charset="-122"/>
            </a:endParaRPr>
          </a:p>
        </p:txBody>
      </p:sp>
      <p:sp>
        <p:nvSpPr>
          <p:cNvPr id="5" name="幻灯片编号"/>
          <p:cNvSpPr txBox="1">
            <a:spLocks noGrp="1"/>
          </p:cNvSpPr>
          <p:nvPr/>
        </p:nvSpPr>
        <p:spPr>
          <a:xfrm>
            <a:off x="10467260" y="6187968"/>
            <a:ext cx="504001" cy="177801"/>
          </a:xfrm>
          <a:prstGeom prst="rect">
            <a:avLst/>
          </a:prstGeom>
          <a:ln w="12700">
            <a:miter lim="400000"/>
          </a:ln>
        </p:spPr>
        <p:txBody>
          <a:bodyPr lIns="0" tIns="0" rIns="0" bIns="0" anchor="ctr">
            <a:spAutoFit/>
          </a:bodyPr>
          <a:lstStyle>
            <a:lvl1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defRPr>
            </a:lvl1pPr>
            <a:lvl2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2pPr>
            <a:lvl3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3pPr>
            <a:lvl4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4pPr>
            <a:lvl5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5pPr>
            <a:lvl6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6pPr>
            <a:lvl7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7pPr>
            <a:lvl8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8pPr>
            <a:lvl9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9pPr>
          </a:lstStyle>
          <a:p>
            <a:fld id="{86CB4B4D-7CA3-9044-876B-883B54F8677D}" type="slidenum">
              <a:rPr/>
              <a:t>14</a:t>
            </a:fld>
            <a:endParaRPr/>
          </a:p>
        </p:txBody>
      </p:sp>
      <p:sp>
        <p:nvSpPr>
          <p:cNvPr id="2" name="文本框 1"/>
          <p:cNvSpPr txBox="1"/>
          <p:nvPr/>
        </p:nvSpPr>
        <p:spPr>
          <a:xfrm>
            <a:off x="288290" y="1362075"/>
            <a:ext cx="11609070" cy="5003800"/>
          </a:xfrm>
          <a:prstGeom prst="rect">
            <a:avLst/>
          </a:prstGeom>
          <a:noFill/>
        </p:spPr>
        <p:txBody>
          <a:bodyPr wrap="square" rtlCol="0" anchor="t">
            <a:noAutofit/>
          </a:bodyPr>
          <a:lstStyle/>
          <a:p>
            <a:pPr algn="just"/>
            <a:endParaRPr lang="en-US" altLang="zh-CN" sz="2100"/>
          </a:p>
        </p:txBody>
      </p:sp>
      <p:sp>
        <p:nvSpPr>
          <p:cNvPr id="3" name="文本框 2"/>
          <p:cNvSpPr txBox="1"/>
          <p:nvPr/>
        </p:nvSpPr>
        <p:spPr>
          <a:xfrm>
            <a:off x="288290" y="1546860"/>
            <a:ext cx="11609070" cy="5003800"/>
          </a:xfrm>
          <a:prstGeom prst="rect">
            <a:avLst/>
          </a:prstGeom>
          <a:noFill/>
        </p:spPr>
        <p:txBody>
          <a:bodyPr wrap="square" rtlCol="0" anchor="t">
            <a:noAutofit/>
          </a:bodyPr>
          <a:lstStyle/>
          <a:p>
            <a:pPr algn="just"/>
            <a:endParaRPr lang="en-US" altLang="zh-CN" sz="2400" dirty="0"/>
          </a:p>
          <a:p>
            <a:pPr algn="just"/>
            <a:endParaRPr lang="en-US" altLang="zh-CN" sz="2400" dirty="0"/>
          </a:p>
          <a:p>
            <a:pPr algn="just"/>
            <a:endParaRPr lang="en-US" altLang="zh-CN" sz="2400" dirty="0"/>
          </a:p>
          <a:p>
            <a:pPr algn="just"/>
            <a:endParaRPr lang="en-US" altLang="zh-CN" sz="2400" dirty="0"/>
          </a:p>
          <a:p>
            <a:pPr algn="just"/>
            <a:r>
              <a:rPr lang="en-US" altLang="zh-CN" sz="2400" dirty="0"/>
              <a:t>According to SHD Group's forecast, the RISC-V SoC market penetration rate is expected to reach 5.9% in 2024 and 25.7% in 2031, with a shipment volume exceeding 20 billion units. Among them, AI acceleration chips have the highest proportion, with a market size of 420 billion US dollars by 2030 and a compound annual growth rate of 49.2%.</a:t>
            </a:r>
          </a:p>
        </p:txBody>
      </p:sp>
      <p:sp>
        <p:nvSpPr>
          <p:cNvPr id="6" name="文本框 5"/>
          <p:cNvSpPr txBox="1"/>
          <p:nvPr/>
        </p:nvSpPr>
        <p:spPr>
          <a:xfrm>
            <a:off x="3048000" y="3244850"/>
            <a:ext cx="6096000" cy="368300"/>
          </a:xfrm>
          <a:prstGeom prst="rect">
            <a:avLst/>
          </a:prstGeom>
          <a:noFill/>
        </p:spPr>
        <p:txBody>
          <a:bodyPr wrap="square" rtlCol="0" anchor="t">
            <a:sp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0"/>
    </mc:Choice>
    <mc:Fallback xmlns="">
      <p:transition spd="slow" advClick="0" advTm="0"/>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als of the course"/>
          <p:cNvSpPr txBox="1">
            <a:spLocks noGrp="1"/>
          </p:cNvSpPr>
          <p:nvPr/>
        </p:nvSpPr>
        <p:spPr>
          <a:xfrm>
            <a:off x="288290" y="273685"/>
            <a:ext cx="11609705" cy="1000760"/>
          </a:xfrm>
          <a:prstGeom prst="rect">
            <a:avLst/>
          </a:prstGeom>
          <a:ln w="12700">
            <a:miter lim="400000"/>
          </a:ln>
        </p:spPr>
        <p:txBody>
          <a:bodyPr lIns="0" tIns="0" rIns="0" bIns="0"/>
          <a:lstStyle>
            <a:lvl1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defRPr>
            </a:lvl1pPr>
            <a:lvl2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2pPr>
            <a:lvl3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3pPr>
            <a:lvl4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4pPr>
            <a:lvl5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5pPr>
            <a:lvl6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6pPr>
            <a:lvl7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7pPr>
            <a:lvl8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8pPr>
            <a:lvl9pPr marL="0" marR="0" indent="0" algn="l" defTabSz="914400" rtl="0" latinLnBrk="0">
              <a:lnSpc>
                <a:spcPct val="100000"/>
              </a:lnSpc>
              <a:spcBef>
                <a:spcPts val="0"/>
              </a:spcBef>
              <a:spcAft>
                <a:spcPts val="0"/>
              </a:spcAft>
              <a:buClrTx/>
              <a:buSzTx/>
              <a:buFontTx/>
              <a:buNone/>
              <a:defRPr sz="3000" b="1" i="0" u="none" strike="noStrike" cap="none" spc="0" baseline="0">
                <a:solidFill>
                  <a:srgbClr val="0025AA"/>
                </a:solidFill>
                <a:uFillTx/>
                <a:latin typeface="Arial" panose="020B0604020202090204" pitchFamily="34" charset="0"/>
                <a:ea typeface="Arial" panose="020B0604020202090204" pitchFamily="34" charset="0"/>
                <a:cs typeface="Arial" panose="020B0604020202090204" pitchFamily="34" charset="0"/>
                <a:sym typeface="Helvetica"/>
              </a:defRPr>
            </a:lvl9pPr>
          </a:lstStyle>
          <a:p>
            <a:r>
              <a:rPr lang="en-US" altLang="zh-CN" sz="3600">
                <a:ea typeface="宋体" pitchFamily="2" charset="-122"/>
              </a:rPr>
              <a:t>Ecological Status and Future Trends</a:t>
            </a:r>
            <a:br>
              <a:rPr lang="en-US" altLang="zh-CN" sz="3600">
                <a:ea typeface="宋体" pitchFamily="2" charset="-122"/>
              </a:rPr>
            </a:br>
            <a:r>
              <a:rPr lang="en-US" altLang="zh-CN" sz="2800"/>
              <a:t>Challenges and Trends</a:t>
            </a:r>
          </a:p>
          <a:p>
            <a:endParaRPr lang="en-US" altLang="zh-CN" sz="2800">
              <a:ea typeface="宋体" pitchFamily="2" charset="-122"/>
            </a:endParaRPr>
          </a:p>
        </p:txBody>
      </p:sp>
      <p:sp>
        <p:nvSpPr>
          <p:cNvPr id="5" name="幻灯片编号"/>
          <p:cNvSpPr txBox="1">
            <a:spLocks noGrp="1"/>
          </p:cNvSpPr>
          <p:nvPr/>
        </p:nvSpPr>
        <p:spPr>
          <a:xfrm>
            <a:off x="10467260" y="6187968"/>
            <a:ext cx="504001" cy="177801"/>
          </a:xfrm>
          <a:prstGeom prst="rect">
            <a:avLst/>
          </a:prstGeom>
          <a:ln w="12700">
            <a:miter lim="400000"/>
          </a:ln>
        </p:spPr>
        <p:txBody>
          <a:bodyPr lIns="0" tIns="0" rIns="0" bIns="0" anchor="ctr">
            <a:spAutoFit/>
          </a:bodyPr>
          <a:lstStyle>
            <a:lvl1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Arial" panose="020B0604020202090204" pitchFamily="34" charset="0"/>
              </a:defRPr>
            </a:lvl1pPr>
            <a:lvl2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2pPr>
            <a:lvl3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3pPr>
            <a:lvl4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4pPr>
            <a:lvl5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5pPr>
            <a:lvl6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6pPr>
            <a:lvl7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7pPr>
            <a:lvl8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8pPr>
            <a:lvl9pPr marL="0" marR="0" indent="0" algn="r" defTabSz="914400" rtl="0" latinLnBrk="0">
              <a:lnSpc>
                <a:spcPct val="100000"/>
              </a:lnSpc>
              <a:spcBef>
                <a:spcPts val="0"/>
              </a:spcBef>
              <a:spcAft>
                <a:spcPts val="0"/>
              </a:spcAft>
              <a:buClrTx/>
              <a:buSzTx/>
              <a:buFontTx/>
              <a:buNone/>
              <a:defRPr sz="1200" b="1" i="0" u="none" strike="noStrike" cap="none" spc="0" baseline="0">
                <a:solidFill>
                  <a:srgbClr val="000000"/>
                </a:solidFill>
                <a:uFillTx/>
                <a:latin typeface="Arial" panose="020B0604020202090204" pitchFamily="34" charset="0"/>
                <a:ea typeface="Arial" panose="020B0604020202090204" pitchFamily="34" charset="0"/>
                <a:cs typeface="Arial" panose="020B0604020202090204" pitchFamily="34" charset="0"/>
                <a:sym typeface="Helvetica"/>
              </a:defRPr>
            </a:lvl9pPr>
          </a:lstStyle>
          <a:p>
            <a:fld id="{86CB4B4D-7CA3-9044-876B-883B54F8677D}" type="slidenum">
              <a:rPr/>
              <a:t>15</a:t>
            </a:fld>
            <a:endParaRPr/>
          </a:p>
        </p:txBody>
      </p:sp>
      <p:sp>
        <p:nvSpPr>
          <p:cNvPr id="2" name="文本框 1"/>
          <p:cNvSpPr txBox="1"/>
          <p:nvPr/>
        </p:nvSpPr>
        <p:spPr>
          <a:xfrm>
            <a:off x="288290" y="1362075"/>
            <a:ext cx="11609070" cy="5003800"/>
          </a:xfrm>
          <a:prstGeom prst="rect">
            <a:avLst/>
          </a:prstGeom>
          <a:noFill/>
        </p:spPr>
        <p:txBody>
          <a:bodyPr wrap="square" rtlCol="0" anchor="t">
            <a:noAutofit/>
          </a:bodyPr>
          <a:lstStyle/>
          <a:p>
            <a:pPr algn="just"/>
            <a:endParaRPr lang="en-US" altLang="zh-CN" sz="2100"/>
          </a:p>
        </p:txBody>
      </p:sp>
      <p:sp>
        <p:nvSpPr>
          <p:cNvPr id="3" name="文本框 2"/>
          <p:cNvSpPr txBox="1"/>
          <p:nvPr/>
        </p:nvSpPr>
        <p:spPr>
          <a:xfrm>
            <a:off x="288290" y="1546860"/>
            <a:ext cx="11609070" cy="5003800"/>
          </a:xfrm>
          <a:prstGeom prst="rect">
            <a:avLst/>
          </a:prstGeom>
          <a:noFill/>
        </p:spPr>
        <p:txBody>
          <a:bodyPr wrap="square" rtlCol="0" anchor="t">
            <a:noAutofit/>
          </a:bodyPr>
          <a:lstStyle/>
          <a:p>
            <a:pPr algn="just"/>
            <a:r>
              <a:rPr lang="en-US" altLang="zh-CN" sz="2400">
                <a:sym typeface="+mn-ea"/>
              </a:rPr>
              <a:t>Existing Challenges:</a:t>
            </a:r>
          </a:p>
          <a:p>
            <a:pPr marL="342900" indent="-342900" algn="just">
              <a:buFont typeface="Wingdings" panose="05000000000000000000" charset="0"/>
              <a:buChar char=""/>
            </a:pPr>
            <a:r>
              <a:rPr lang="en-US" altLang="zh-CN" sz="2400" b="1">
                <a:sym typeface="+mn-ea"/>
              </a:rPr>
              <a:t>Software Ecosystem</a:t>
            </a:r>
            <a:r>
              <a:rPr lang="en-US" altLang="zh-CN" sz="2400">
                <a:sym typeface="+mn-ea"/>
              </a:rPr>
              <a:t>: Compared to x86/ARM, compiler and operating system adaptation still need to be improved.</a:t>
            </a:r>
          </a:p>
          <a:p>
            <a:pPr marL="342900" indent="-342900" algn="just">
              <a:buFont typeface="Wingdings" panose="05000000000000000000" charset="0"/>
              <a:buChar char=""/>
            </a:pPr>
            <a:r>
              <a:rPr lang="en-US" altLang="zh-CN" sz="2400" b="1">
                <a:sym typeface="+mn-ea"/>
              </a:rPr>
              <a:t>Fragmentation Risk</a:t>
            </a:r>
            <a:r>
              <a:rPr lang="en-US" altLang="zh-CN" sz="2400">
                <a:sym typeface="+mn-ea"/>
              </a:rPr>
              <a:t>: Custom extensions may cause compatibility issues.</a:t>
            </a:r>
          </a:p>
          <a:p>
            <a:pPr algn="just"/>
            <a:endParaRPr lang="en-US" altLang="zh-CN" sz="2400">
              <a:sym typeface="+mn-ea"/>
            </a:endParaRPr>
          </a:p>
          <a:p>
            <a:pPr algn="just"/>
            <a:r>
              <a:rPr lang="en-US" altLang="zh-CN" sz="2400">
                <a:sym typeface="+mn-ea"/>
              </a:rPr>
              <a:t>Trends:</a:t>
            </a:r>
          </a:p>
          <a:p>
            <a:pPr marL="342900" indent="-342900" algn="just">
              <a:buFont typeface="Wingdings" panose="05000000000000000000" charset="0"/>
              <a:buChar char=""/>
            </a:pPr>
            <a:r>
              <a:rPr lang="en-US" altLang="zh-CN" sz="2400" b="1"/>
              <a:t>High Performance</a:t>
            </a:r>
            <a:r>
              <a:rPr lang="en-US" altLang="zh-CN" sz="2400"/>
              <a:t>: Out-of-order multi-issue (4-issue, 6-issue) IP is mature, benchmarking ARM Cortex-A78/x86 mid-to-high-end products.</a:t>
            </a:r>
          </a:p>
          <a:p>
            <a:pPr marL="342900" indent="-342900" algn="just">
              <a:buFont typeface="Wingdings" panose="05000000000000000000" charset="0"/>
              <a:buChar char=""/>
            </a:pPr>
            <a:r>
              <a:rPr lang="en-US" altLang="zh-CN" sz="2400" b="1"/>
              <a:t>AI Deep Integration</a:t>
            </a:r>
            <a:r>
              <a:rPr lang="en-US" altLang="zh-CN" sz="2400"/>
              <a:t>: Vector engine and tensor engine become standard, creating an integrated architecture of "general computing + AI acceleration".</a:t>
            </a:r>
          </a:p>
          <a:p>
            <a:pPr marL="342900" indent="-342900" algn="just">
              <a:buFont typeface="Wingdings" panose="05000000000000000000" charset="0"/>
              <a:buChar char=""/>
            </a:pPr>
            <a:r>
              <a:rPr lang="en-US" altLang="zh-CN" sz="2400" b="1"/>
              <a:t>Ecological Collaboration</a:t>
            </a:r>
            <a:r>
              <a:rPr lang="en-US" altLang="zh-CN" sz="2400"/>
              <a:t>: Promotion of standards such as RVA23, and Nvidia CUDA porting accelerates the landing of server scenarios.</a:t>
            </a:r>
          </a:p>
        </p:txBody>
      </p:sp>
      <p:sp>
        <p:nvSpPr>
          <p:cNvPr id="6" name="文本框 5"/>
          <p:cNvSpPr txBox="1"/>
          <p:nvPr/>
        </p:nvSpPr>
        <p:spPr>
          <a:xfrm>
            <a:off x="3048000" y="3244850"/>
            <a:ext cx="6096000" cy="368300"/>
          </a:xfrm>
          <a:prstGeom prst="rect">
            <a:avLst/>
          </a:prstGeom>
          <a:noFill/>
        </p:spPr>
        <p:txBody>
          <a:bodyPr wrap="square" rtlCol="0" anchor="t">
            <a:sp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1500" advClick="0" advTm="0"/>
    </mc:Choice>
    <mc:Fallback xmlns="">
      <p:transition spd="slow" advClick="0" advTm="0"/>
    </mc:Fallback>
  </mc:AlternateContent>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150</TotalTime>
  <Words>1966</Words>
  <Application>Microsoft Office PowerPoint</Application>
  <PresentationFormat>宽屏</PresentationFormat>
  <Paragraphs>222</Paragraphs>
  <Slides>15</Slides>
  <Notes>15</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15</vt:i4>
      </vt:variant>
    </vt:vector>
  </HeadingPairs>
  <TitlesOfParts>
    <vt:vector size="20" baseType="lpstr">
      <vt:lpstr>宋体</vt:lpstr>
      <vt:lpstr>Arial</vt:lpstr>
      <vt:lpstr>Calibri</vt:lpstr>
      <vt:lpstr>Wingdings</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雪瑾</dc:creator>
  <cp:lastModifiedBy>瑾 雪</cp:lastModifiedBy>
  <cp:revision>86</cp:revision>
  <dcterms:created xsi:type="dcterms:W3CDTF">2025-12-04T03:11:26Z</dcterms:created>
  <dcterms:modified xsi:type="dcterms:W3CDTF">2025-12-05T18:30:19Z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2052-7.4.1.8983</vt:lpwstr>
  </property>
  <property fmtid="{D5CDD505-2E9C-101B-9397-08002B2CF9AE}" pid="3" name="ICV">
    <vt:lpwstr>8541FA320D1F3350C87F3069421E5819_43</vt:lpwstr>
  </property>
</Properties>
</file>