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5" r:id="rId2"/>
    <p:sldId id="274" r:id="rId3"/>
    <p:sldId id="276" r:id="rId4"/>
    <p:sldId id="277" r:id="rId5"/>
    <p:sldId id="278" r:id="rId6"/>
    <p:sldId id="279" r:id="rId7"/>
    <p:sldId id="280" r:id="rId8"/>
    <p:sldId id="28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CBD51-C19A-9260-CA49-9AA98C20E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304352-EEDC-42B0-385D-417A0CA761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675DDD-DE35-B2A3-60C2-7DD18B33C93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透明度与信任</a:t>
            </a:r>
          </a:p>
          <a:p>
            <a:endParaRPr lang="en-US" altLang="zh-CN"/>
          </a:p>
          <a:p>
            <a:r>
              <a:rPr lang="zh-CN" altLang="en-US"/>
              <a:t>实现完全透明的关键障碍是什么？</a:t>
            </a:r>
          </a:p>
          <a:p>
            <a:endParaRPr lang="en-US" altLang="zh-CN"/>
          </a:p>
          <a:p>
            <a:r>
              <a:rPr lang="zh-CN" altLang="en-US"/>
              <a:t>透明度服务如何增强安全性和可信度？</a:t>
            </a:r>
          </a:p>
          <a:p>
            <a:endParaRPr lang="en-US" altLang="zh-CN"/>
          </a:p>
          <a:p>
            <a:r>
              <a:rPr lang="zh-CN" altLang="en-US"/>
              <a:t>透明度注册机构如何提供可靠的日志？</a:t>
            </a:r>
          </a:p>
        </p:txBody>
      </p:sp>
    </p:spTree>
    <p:extLst>
      <p:ext uri="{BB962C8B-B14F-4D97-AF65-F5344CB8AC3E}">
        <p14:creationId xmlns:p14="http://schemas.microsoft.com/office/powerpoint/2010/main" val="3464923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8E2DB-5FBE-6107-D39A-2BEBCA5F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4C6E64-48BB-0C15-3A38-208B8DBD38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876981-AD98-FA06-9A38-FAAC77AC722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透明度与信任</a:t>
            </a:r>
          </a:p>
          <a:p>
            <a:endParaRPr lang="en-US" altLang="zh-CN"/>
          </a:p>
          <a:p>
            <a:r>
              <a:rPr lang="zh-CN" altLang="en-US"/>
              <a:t>实现完全透明的关键障碍是什么？</a:t>
            </a:r>
          </a:p>
          <a:p>
            <a:endParaRPr lang="en-US" altLang="zh-CN"/>
          </a:p>
          <a:p>
            <a:r>
              <a:rPr lang="zh-CN" altLang="en-US"/>
              <a:t>透明度服务如何增强安全性和可信度？</a:t>
            </a:r>
          </a:p>
          <a:p>
            <a:endParaRPr lang="en-US" altLang="zh-CN"/>
          </a:p>
          <a:p>
            <a:r>
              <a:rPr lang="zh-CN" altLang="en-US"/>
              <a:t>透明度注册机构如何提供可靠的日志？</a:t>
            </a:r>
          </a:p>
        </p:txBody>
      </p:sp>
    </p:spTree>
    <p:extLst>
      <p:ext uri="{BB962C8B-B14F-4D97-AF65-F5344CB8AC3E}">
        <p14:creationId xmlns:p14="http://schemas.microsoft.com/office/powerpoint/2010/main" val="2333266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BA62A-1C08-2C63-A356-8C516C359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BC3515-4CA7-872D-7BA9-FCFF78CA1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B81DC9-2FF5-0280-16EB-7BDA96B79F2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透明度与信任</a:t>
            </a:r>
          </a:p>
          <a:p>
            <a:endParaRPr lang="en-US" altLang="zh-CN"/>
          </a:p>
          <a:p>
            <a:r>
              <a:rPr lang="zh-CN" altLang="en-US"/>
              <a:t>实现完全透明的关键障碍是什么？</a:t>
            </a:r>
          </a:p>
          <a:p>
            <a:endParaRPr lang="en-US" altLang="zh-CN"/>
          </a:p>
          <a:p>
            <a:r>
              <a:rPr lang="zh-CN" altLang="en-US"/>
              <a:t>透明度服务如何增强安全性和可信度？</a:t>
            </a:r>
          </a:p>
          <a:p>
            <a:endParaRPr lang="en-US" altLang="zh-CN"/>
          </a:p>
          <a:p>
            <a:r>
              <a:rPr lang="zh-CN" altLang="en-US"/>
              <a:t>透明度注册机构如何提供可靠的日志？</a:t>
            </a:r>
          </a:p>
        </p:txBody>
      </p:sp>
    </p:spTree>
    <p:extLst>
      <p:ext uri="{BB962C8B-B14F-4D97-AF65-F5344CB8AC3E}">
        <p14:creationId xmlns:p14="http://schemas.microsoft.com/office/powerpoint/2010/main" val="890023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D48A0-3CDB-10E9-FBA3-1C37F06F0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250826-6FC2-C192-4B0C-410CAE5CA7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284F9D-67EB-7C8C-304C-3D0047B3B14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透明度与信任</a:t>
            </a:r>
          </a:p>
          <a:p>
            <a:endParaRPr lang="en-US" altLang="zh-CN"/>
          </a:p>
          <a:p>
            <a:r>
              <a:rPr lang="zh-CN" altLang="en-US"/>
              <a:t>实现完全透明的关键障碍是什么？</a:t>
            </a:r>
          </a:p>
          <a:p>
            <a:endParaRPr lang="en-US" altLang="zh-CN"/>
          </a:p>
          <a:p>
            <a:r>
              <a:rPr lang="zh-CN" altLang="en-US"/>
              <a:t>透明度服务如何增强安全性和可信度？</a:t>
            </a:r>
          </a:p>
          <a:p>
            <a:endParaRPr lang="en-US" altLang="zh-CN"/>
          </a:p>
          <a:p>
            <a:r>
              <a:rPr lang="zh-CN" altLang="en-US"/>
              <a:t>透明度注册机构如何提供可靠的日志？</a:t>
            </a:r>
          </a:p>
        </p:txBody>
      </p:sp>
    </p:spTree>
    <p:extLst>
      <p:ext uri="{BB962C8B-B14F-4D97-AF65-F5344CB8AC3E}">
        <p14:creationId xmlns:p14="http://schemas.microsoft.com/office/powerpoint/2010/main" val="4212374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D6C78-5F6F-6C01-08D7-6049DEBE4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87E813-E4A2-C756-E6DE-1D167BAF0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4A299F-9B57-708D-B679-440732F812C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透明度与信任</a:t>
            </a:r>
          </a:p>
          <a:p>
            <a:endParaRPr lang="en-US" altLang="zh-CN"/>
          </a:p>
          <a:p>
            <a:r>
              <a:rPr lang="zh-CN" altLang="en-US"/>
              <a:t>实现完全透明的关键障碍是什么？</a:t>
            </a:r>
          </a:p>
          <a:p>
            <a:endParaRPr lang="en-US" altLang="zh-CN"/>
          </a:p>
          <a:p>
            <a:r>
              <a:rPr lang="zh-CN" altLang="en-US"/>
              <a:t>透明度服务如何增强安全性和可信度？</a:t>
            </a:r>
          </a:p>
          <a:p>
            <a:endParaRPr lang="en-US" altLang="zh-CN"/>
          </a:p>
          <a:p>
            <a:r>
              <a:rPr lang="zh-CN" altLang="en-US"/>
              <a:t>透明度注册机构如何提供可靠的日志？</a:t>
            </a:r>
          </a:p>
        </p:txBody>
      </p:sp>
    </p:spTree>
    <p:extLst>
      <p:ext uri="{BB962C8B-B14F-4D97-AF65-F5344CB8AC3E}">
        <p14:creationId xmlns:p14="http://schemas.microsoft.com/office/powerpoint/2010/main" val="2562119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48A98-DBBC-5A63-7AA8-907FFCD34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21EEB8-D3AB-2A06-46B6-9DD4B0F47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2F6E76-E94B-2299-237A-17C59FD3E0A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透明度与信任</a:t>
            </a:r>
          </a:p>
          <a:p>
            <a:endParaRPr lang="en-US" altLang="zh-CN"/>
          </a:p>
          <a:p>
            <a:r>
              <a:rPr lang="zh-CN" altLang="en-US"/>
              <a:t>实现完全透明的关键障碍是什么？</a:t>
            </a:r>
          </a:p>
          <a:p>
            <a:endParaRPr lang="en-US" altLang="zh-CN"/>
          </a:p>
          <a:p>
            <a:r>
              <a:rPr lang="zh-CN" altLang="en-US"/>
              <a:t>透明度服务如何增强安全性和可信度？</a:t>
            </a:r>
          </a:p>
          <a:p>
            <a:endParaRPr lang="en-US" altLang="zh-CN"/>
          </a:p>
          <a:p>
            <a:r>
              <a:rPr lang="zh-CN" altLang="en-US"/>
              <a:t>透明度注册机构如何提供可靠的日志？</a:t>
            </a:r>
          </a:p>
        </p:txBody>
      </p:sp>
    </p:spTree>
    <p:extLst>
      <p:ext uri="{BB962C8B-B14F-4D97-AF65-F5344CB8AC3E}">
        <p14:creationId xmlns:p14="http://schemas.microsoft.com/office/powerpoint/2010/main" val="2438901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BC326-03F5-A3E8-4425-294D50BA7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6E3139-317C-3997-5816-7F2EFAD99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A925EE-91D9-2EC7-2488-55D554ECEBE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透明度与信任</a:t>
            </a:r>
          </a:p>
          <a:p>
            <a:endParaRPr lang="en-US" altLang="zh-CN"/>
          </a:p>
          <a:p>
            <a:r>
              <a:rPr lang="zh-CN" altLang="en-US"/>
              <a:t>实现完全透明的关键障碍是什么？</a:t>
            </a:r>
          </a:p>
          <a:p>
            <a:endParaRPr lang="en-US" altLang="zh-CN"/>
          </a:p>
          <a:p>
            <a:r>
              <a:rPr lang="zh-CN" altLang="en-US"/>
              <a:t>透明度服务如何增强安全性和可信度？</a:t>
            </a:r>
          </a:p>
          <a:p>
            <a:endParaRPr lang="en-US" altLang="zh-CN"/>
          </a:p>
          <a:p>
            <a:r>
              <a:rPr lang="zh-CN" altLang="en-US"/>
              <a:t>透明度注册机构如何提供可靠的日志？</a:t>
            </a:r>
          </a:p>
        </p:txBody>
      </p:sp>
    </p:spTree>
    <p:extLst>
      <p:ext uri="{BB962C8B-B14F-4D97-AF65-F5344CB8AC3E}">
        <p14:creationId xmlns:p14="http://schemas.microsoft.com/office/powerpoint/2010/main" val="3116410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8091-D1C9-4574-73B3-7CB478A00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91AD6C-2C65-45AB-BCF0-DB0C338088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74C710-A040-D564-B5FA-DB8E3CFFFA2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透明度与信任</a:t>
            </a:r>
          </a:p>
          <a:p>
            <a:endParaRPr lang="en-US" altLang="zh-CN"/>
          </a:p>
          <a:p>
            <a:r>
              <a:rPr lang="zh-CN" altLang="en-US"/>
              <a:t>实现完全透明的关键障碍是什么？</a:t>
            </a:r>
          </a:p>
          <a:p>
            <a:endParaRPr lang="en-US" altLang="zh-CN"/>
          </a:p>
          <a:p>
            <a:r>
              <a:rPr lang="zh-CN" altLang="en-US"/>
              <a:t>透明度服务如何增强安全性和可信度？</a:t>
            </a:r>
          </a:p>
          <a:p>
            <a:endParaRPr lang="en-US" altLang="zh-CN"/>
          </a:p>
          <a:p>
            <a:r>
              <a:rPr lang="zh-CN" altLang="en-US"/>
              <a:t>透明度注册机构如何提供可靠的日志？</a:t>
            </a:r>
          </a:p>
        </p:txBody>
      </p:sp>
    </p:spTree>
    <p:extLst>
      <p:ext uri="{BB962C8B-B14F-4D97-AF65-F5344CB8AC3E}">
        <p14:creationId xmlns:p14="http://schemas.microsoft.com/office/powerpoint/2010/main" val="2715923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F7345-BC47-863D-8F5E-C0D76FFF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als of the course">
            <a:extLst>
              <a:ext uri="{FF2B5EF4-FFF2-40B4-BE49-F238E27FC236}">
                <a16:creationId xmlns:a16="http://schemas.microsoft.com/office/drawing/2014/main" id="{2996FC82-C55D-3B64-E486-AD16E22C6821}"/>
              </a:ext>
            </a:extLst>
          </p:cNvPr>
          <p:cNvSpPr txBox="1">
            <a:spLocks noGrp="1"/>
          </p:cNvSpPr>
          <p:nvPr/>
        </p:nvSpPr>
        <p:spPr>
          <a:xfrm>
            <a:off x="676275" y="436245"/>
            <a:ext cx="9753600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NVIDIA's Improvements to RISC-V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5" name="幻灯片编号">
            <a:extLst>
              <a:ext uri="{FF2B5EF4-FFF2-40B4-BE49-F238E27FC236}">
                <a16:creationId xmlns:a16="http://schemas.microsoft.com/office/drawing/2014/main" id="{7B078184-BEDE-FE59-69CC-30F0CDD1495D}"/>
              </a:ext>
            </a:extLst>
          </p:cNvPr>
          <p:cNvSpPr txBox="1">
            <a:spLocks noGrp="1"/>
          </p:cNvSpPr>
          <p:nvPr/>
        </p:nvSpPr>
        <p:spPr>
          <a:xfrm>
            <a:off x="10467260" y="6187968"/>
            <a:ext cx="504001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7A6FC4-03EE-DE49-A12C-4DA614B86632}"/>
              </a:ext>
            </a:extLst>
          </p:cNvPr>
          <p:cNvSpPr txBox="1"/>
          <p:nvPr/>
        </p:nvSpPr>
        <p:spPr>
          <a:xfrm>
            <a:off x="469753" y="1346835"/>
            <a:ext cx="11423015" cy="4681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25AA"/>
                </a:solidFill>
              </a:rPr>
              <a:t> 1. At the Microarchitecture Level (Comparison with Falcon)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5AA"/>
                </a:solidFill>
              </a:rPr>
              <a:t>• </a:t>
            </a:r>
            <a:r>
              <a:rPr lang="en-US" altLang="zh-CN" sz="2400" dirty="0"/>
              <a:t>Upgraded Branch Prediction Mechanism: 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The old version of Falcon only used static prediction. NV-RISC-V introduces dynamic prediction mechanisms, including BTB(Branch Target Buffer), BHT(Branch History Table), and RAS(Return Address Stack), significantly reducing performance losses caused by branch prediction errors.</a:t>
            </a:r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263362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A673F-93A5-46B3-3055-7DE5A6EFD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als of the course">
            <a:extLst>
              <a:ext uri="{FF2B5EF4-FFF2-40B4-BE49-F238E27FC236}">
                <a16:creationId xmlns:a16="http://schemas.microsoft.com/office/drawing/2014/main" id="{DB781513-4669-014F-2F47-718A3A145D92}"/>
              </a:ext>
            </a:extLst>
          </p:cNvPr>
          <p:cNvSpPr txBox="1">
            <a:spLocks noGrp="1"/>
          </p:cNvSpPr>
          <p:nvPr/>
        </p:nvSpPr>
        <p:spPr>
          <a:xfrm>
            <a:off x="676275" y="436245"/>
            <a:ext cx="9753600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NVIDIA's Improvements to RISC-V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5" name="幻灯片编号">
            <a:extLst>
              <a:ext uri="{FF2B5EF4-FFF2-40B4-BE49-F238E27FC236}">
                <a16:creationId xmlns:a16="http://schemas.microsoft.com/office/drawing/2014/main" id="{094B29F7-AF8F-03A4-1BD5-3762AA804A59}"/>
              </a:ext>
            </a:extLst>
          </p:cNvPr>
          <p:cNvSpPr txBox="1">
            <a:spLocks noGrp="1"/>
          </p:cNvSpPr>
          <p:nvPr/>
        </p:nvSpPr>
        <p:spPr>
          <a:xfrm>
            <a:off x="10467260" y="6187968"/>
            <a:ext cx="504001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22A45B-1591-CE8E-D2B0-1145084B1773}"/>
              </a:ext>
            </a:extLst>
          </p:cNvPr>
          <p:cNvSpPr txBox="1"/>
          <p:nvPr/>
        </p:nvSpPr>
        <p:spPr>
          <a:xfrm>
            <a:off x="469753" y="1346835"/>
            <a:ext cx="11423015" cy="4681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25AA"/>
                </a:solidFill>
              </a:rPr>
              <a:t> 1. At the Microarchitecture Level (Comparison with Falcon)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5AA"/>
                </a:solidFill>
              </a:rPr>
              <a:t>• </a:t>
            </a:r>
            <a:r>
              <a:rPr lang="en-US" altLang="zh-CN" sz="2400" dirty="0"/>
              <a:t>Instruction Execution and Pipeline Optimization: 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When handling instruction hazards, Falcon can only resolve them through Stall, while NV-RISV introduces ROB to handle WAW hazards, enabling out-of-order execution.</a:t>
            </a:r>
            <a:endParaRPr lang="en-US" altLang="zh-CN" sz="2400" b="1" dirty="0">
              <a:solidFill>
                <a:srgbClr val="0025AA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5AA"/>
                </a:solidFill>
              </a:rPr>
              <a:t>• </a:t>
            </a:r>
            <a:r>
              <a:rPr lang="en-US" altLang="zh-CN" sz="2400" dirty="0"/>
              <a:t>Memory Protection Mechanism: 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Upgraded from Falcon's simple TCM tagging to a more flexible Base and </a:t>
            </a:r>
            <a:r>
              <a:rPr lang="en-US" altLang="zh-CN" sz="2400" dirty="0" err="1"/>
              <a:t>Boundmechanism</a:t>
            </a:r>
            <a:r>
              <a:rPr lang="en-US" altLang="zh-CN" sz="2400" dirty="0"/>
              <a:t>, and introduced MPU (Memory Protection Unit).</a:t>
            </a:r>
          </a:p>
        </p:txBody>
      </p:sp>
    </p:spTree>
    <p:extLst>
      <p:ext uri="{BB962C8B-B14F-4D97-AF65-F5344CB8AC3E}">
        <p14:creationId xmlns:p14="http://schemas.microsoft.com/office/powerpoint/2010/main" val="69871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03CCE-EB60-1996-64D9-2A1F54B97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als of the course">
            <a:extLst>
              <a:ext uri="{FF2B5EF4-FFF2-40B4-BE49-F238E27FC236}">
                <a16:creationId xmlns:a16="http://schemas.microsoft.com/office/drawing/2014/main" id="{85524C1F-8CE1-7F71-0636-F1E98640D1DD}"/>
              </a:ext>
            </a:extLst>
          </p:cNvPr>
          <p:cNvSpPr txBox="1">
            <a:spLocks noGrp="1"/>
          </p:cNvSpPr>
          <p:nvPr/>
        </p:nvSpPr>
        <p:spPr>
          <a:xfrm>
            <a:off x="676275" y="436245"/>
            <a:ext cx="9753600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NVIDIA's Improvements to RISC-V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5" name="幻灯片编号">
            <a:extLst>
              <a:ext uri="{FF2B5EF4-FFF2-40B4-BE49-F238E27FC236}">
                <a16:creationId xmlns:a16="http://schemas.microsoft.com/office/drawing/2014/main" id="{B0337512-E5ED-8341-7B3D-E1F65D1B6FE6}"/>
              </a:ext>
            </a:extLst>
          </p:cNvPr>
          <p:cNvSpPr txBox="1">
            <a:spLocks noGrp="1"/>
          </p:cNvSpPr>
          <p:nvPr/>
        </p:nvSpPr>
        <p:spPr>
          <a:xfrm>
            <a:off x="10467260" y="6187968"/>
            <a:ext cx="504001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2C4FCF-FD32-25D6-834A-5E6826F5D242}"/>
              </a:ext>
            </a:extLst>
          </p:cNvPr>
          <p:cNvSpPr txBox="1"/>
          <p:nvPr/>
        </p:nvSpPr>
        <p:spPr>
          <a:xfrm>
            <a:off x="469753" y="1346835"/>
            <a:ext cx="11423015" cy="4681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25AA"/>
                </a:solidFill>
              </a:rPr>
              <a:t> 2. Hardware Acceleration for AI and Computationally Intensive Tasks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5AA"/>
                </a:solidFill>
              </a:rPr>
              <a:t>• </a:t>
            </a:r>
            <a:r>
              <a:rPr lang="en-US" altLang="zh-CN" sz="2400" dirty="0"/>
              <a:t>Ultra-Wide Vector Extension: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NV-RVV cores, in addition to standard RISC-V... Building upon this foundation, a 1024-bit vector extension width has been added, far exceeding the configuration of typical embedded cores, specifically for high-throughput vector operations.</a:t>
            </a:r>
          </a:p>
        </p:txBody>
      </p:sp>
    </p:spTree>
    <p:extLst>
      <p:ext uri="{BB962C8B-B14F-4D97-AF65-F5344CB8AC3E}">
        <p14:creationId xmlns:p14="http://schemas.microsoft.com/office/powerpoint/2010/main" val="27749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F6C68-2B0E-253C-2E1D-A6C1553E3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als of the course">
            <a:extLst>
              <a:ext uri="{FF2B5EF4-FFF2-40B4-BE49-F238E27FC236}">
                <a16:creationId xmlns:a16="http://schemas.microsoft.com/office/drawing/2014/main" id="{32F69C89-6B1B-8531-9387-BBBEE8BE0E3C}"/>
              </a:ext>
            </a:extLst>
          </p:cNvPr>
          <p:cNvSpPr txBox="1">
            <a:spLocks noGrp="1"/>
          </p:cNvSpPr>
          <p:nvPr/>
        </p:nvSpPr>
        <p:spPr>
          <a:xfrm>
            <a:off x="676275" y="436245"/>
            <a:ext cx="9753600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NVIDIA's Improvements to RISC-V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5" name="幻灯片编号">
            <a:extLst>
              <a:ext uri="{FF2B5EF4-FFF2-40B4-BE49-F238E27FC236}">
                <a16:creationId xmlns:a16="http://schemas.microsoft.com/office/drawing/2014/main" id="{5DBF3C6E-6408-F503-341A-4A170527127E}"/>
              </a:ext>
            </a:extLst>
          </p:cNvPr>
          <p:cNvSpPr txBox="1">
            <a:spLocks noGrp="1"/>
          </p:cNvSpPr>
          <p:nvPr/>
        </p:nvSpPr>
        <p:spPr>
          <a:xfrm>
            <a:off x="10467260" y="6187968"/>
            <a:ext cx="504001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4CDE22-D296-254E-DED4-DE96D633C9EF}"/>
              </a:ext>
            </a:extLst>
          </p:cNvPr>
          <p:cNvSpPr txBox="1"/>
          <p:nvPr/>
        </p:nvSpPr>
        <p:spPr>
          <a:xfrm>
            <a:off x="469753" y="1346835"/>
            <a:ext cx="11423015" cy="4681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25AA"/>
                </a:solidFill>
              </a:rPr>
              <a:t> 2. Hardware Acceleration for AI and Computationally Intensive Tasks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5AA"/>
                </a:solidFill>
              </a:rPr>
              <a:t>• </a:t>
            </a:r>
            <a:r>
              <a:rPr lang="en-US" altLang="zh-CN" sz="2400" dirty="0"/>
              <a:t>Deep Learning Dedicated Module Integration: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In the Deep Learning Accelerator (DLA), the RISC-V core is tightly coupled with several dedicated hardware modules, including Rubik (matrix transformation optimization module), SDP (scaling and dynamic precision processing module), and </a:t>
            </a:r>
            <a:r>
              <a:rPr lang="en-US" altLang="zh-CN" sz="2400" dirty="0" err="1"/>
              <a:t>CfgDMA</a:t>
            </a:r>
            <a:r>
              <a:rPr lang="en-US" altLang="zh-CN" sz="2400" dirty="0"/>
              <a:t> (configurable DMA).CDP (compression and decompression module) is integrated to optimize data stream transmission.</a:t>
            </a:r>
          </a:p>
        </p:txBody>
      </p:sp>
    </p:spTree>
    <p:extLst>
      <p:ext uri="{BB962C8B-B14F-4D97-AF65-F5344CB8AC3E}">
        <p14:creationId xmlns:p14="http://schemas.microsoft.com/office/powerpoint/2010/main" val="112638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D1164-956E-B90A-593D-F95B029E0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als of the course">
            <a:extLst>
              <a:ext uri="{FF2B5EF4-FFF2-40B4-BE49-F238E27FC236}">
                <a16:creationId xmlns:a16="http://schemas.microsoft.com/office/drawing/2014/main" id="{4BEF5043-66A7-8436-D7C6-52286E7FB6F6}"/>
              </a:ext>
            </a:extLst>
          </p:cNvPr>
          <p:cNvSpPr txBox="1">
            <a:spLocks noGrp="1"/>
          </p:cNvSpPr>
          <p:nvPr/>
        </p:nvSpPr>
        <p:spPr>
          <a:xfrm>
            <a:off x="676275" y="436245"/>
            <a:ext cx="9753600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NVIDIA's Improvements to RISC-V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5" name="幻灯片编号">
            <a:extLst>
              <a:ext uri="{FF2B5EF4-FFF2-40B4-BE49-F238E27FC236}">
                <a16:creationId xmlns:a16="http://schemas.microsoft.com/office/drawing/2014/main" id="{B2A68FC1-B884-D6FC-CBCA-36EE2394589E}"/>
              </a:ext>
            </a:extLst>
          </p:cNvPr>
          <p:cNvSpPr txBox="1">
            <a:spLocks noGrp="1"/>
          </p:cNvSpPr>
          <p:nvPr/>
        </p:nvSpPr>
        <p:spPr>
          <a:xfrm>
            <a:off x="10467260" y="6187968"/>
            <a:ext cx="504001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B45311-914F-FAD6-E627-BFAEFE8BEA97}"/>
              </a:ext>
            </a:extLst>
          </p:cNvPr>
          <p:cNvSpPr txBox="1"/>
          <p:nvPr/>
        </p:nvSpPr>
        <p:spPr>
          <a:xfrm>
            <a:off x="469753" y="1506748"/>
            <a:ext cx="11423015" cy="4681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 dirty="0">
                <a:solidFill>
                  <a:srgbClr val="0025AA"/>
                </a:solidFill>
              </a:rPr>
              <a:t> 3. System-Level Interconnect and Security Architecture Improvements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5AA"/>
                </a:solidFill>
              </a:rPr>
              <a:t>• </a:t>
            </a:r>
            <a:r>
              <a:rPr lang="en-US" altLang="zh-CN" sz="2400" dirty="0"/>
              <a:t>IOPMP (Input-Output Memory Protection):</a:t>
            </a:r>
          </a:p>
          <a:p>
            <a:pPr marL="457200" lvl="2">
              <a:lnSpc>
                <a:spcPct val="150000"/>
              </a:lnSpc>
            </a:pPr>
            <a:r>
              <a:rPr lang="en-US" altLang="zh-CN" sz="2400" dirty="0"/>
              <a:t>NVIDIA has developed and contributed the IOPMP technology, which provides protection when I/O devices access memory. This is crucial in GSP (GPU System Processor), as it ensures strict resource isolation and security protection between guest virtual machines (Guest VMs) of different users in a multi-tenant cloud environment.</a:t>
            </a:r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46480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6E375-A3E0-8FB9-DD46-D8049BCC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als of the course">
            <a:extLst>
              <a:ext uri="{FF2B5EF4-FFF2-40B4-BE49-F238E27FC236}">
                <a16:creationId xmlns:a16="http://schemas.microsoft.com/office/drawing/2014/main" id="{6654403D-F53D-54FE-B784-C5EE73D9D2DC}"/>
              </a:ext>
            </a:extLst>
          </p:cNvPr>
          <p:cNvSpPr txBox="1">
            <a:spLocks noGrp="1"/>
          </p:cNvSpPr>
          <p:nvPr/>
        </p:nvSpPr>
        <p:spPr>
          <a:xfrm>
            <a:off x="676275" y="436245"/>
            <a:ext cx="9753600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NVIDIA's Improvements to RISC-V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5" name="幻灯片编号">
            <a:extLst>
              <a:ext uri="{FF2B5EF4-FFF2-40B4-BE49-F238E27FC236}">
                <a16:creationId xmlns:a16="http://schemas.microsoft.com/office/drawing/2014/main" id="{59CCA79B-1B65-2ED0-099E-7F08605077E5}"/>
              </a:ext>
            </a:extLst>
          </p:cNvPr>
          <p:cNvSpPr txBox="1">
            <a:spLocks noGrp="1"/>
          </p:cNvSpPr>
          <p:nvPr/>
        </p:nvSpPr>
        <p:spPr>
          <a:xfrm>
            <a:off x="10467260" y="6187968"/>
            <a:ext cx="504001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7B1B8A-0929-D10F-7E73-6708A233916A}"/>
              </a:ext>
            </a:extLst>
          </p:cNvPr>
          <p:cNvSpPr txBox="1"/>
          <p:nvPr/>
        </p:nvSpPr>
        <p:spPr>
          <a:xfrm>
            <a:off x="469753" y="1506748"/>
            <a:ext cx="11423015" cy="4681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 dirty="0">
                <a:solidFill>
                  <a:srgbClr val="0025AA"/>
                </a:solidFill>
              </a:rPr>
              <a:t> 3. System-Level Interconnect and Security Architecture Improvements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5AA"/>
                </a:solidFill>
              </a:rPr>
              <a:t>• </a:t>
            </a:r>
            <a:r>
              <a:rPr lang="en-US" altLang="zh-CN" sz="2400" dirty="0"/>
              <a:t>Unified Secure Debugging:</a:t>
            </a:r>
          </a:p>
          <a:p>
            <a:pPr marL="457200" lvl="2">
              <a:lnSpc>
                <a:spcPct val="150000"/>
              </a:lnSpc>
            </a:pPr>
            <a:r>
              <a:rPr lang="en-US" altLang="zh-CN" sz="2400" dirty="0"/>
              <a:t>The security of the debug interface has been improved, integrating the ICD (In-Circuit Debug) secure debugging function and combining it with ROM memory protection to prevent physical attacks via the debug interface.</a:t>
            </a:r>
          </a:p>
        </p:txBody>
      </p:sp>
    </p:spTree>
    <p:extLst>
      <p:ext uri="{BB962C8B-B14F-4D97-AF65-F5344CB8AC3E}">
        <p14:creationId xmlns:p14="http://schemas.microsoft.com/office/powerpoint/2010/main" val="2759816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61FB8-8827-4B40-5814-6D845A613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als of the course">
            <a:extLst>
              <a:ext uri="{FF2B5EF4-FFF2-40B4-BE49-F238E27FC236}">
                <a16:creationId xmlns:a16="http://schemas.microsoft.com/office/drawing/2014/main" id="{B0A54880-54A7-6605-9F83-8F09D31C7BBE}"/>
              </a:ext>
            </a:extLst>
          </p:cNvPr>
          <p:cNvSpPr txBox="1">
            <a:spLocks noGrp="1"/>
          </p:cNvSpPr>
          <p:nvPr/>
        </p:nvSpPr>
        <p:spPr>
          <a:xfrm>
            <a:off x="676275" y="436245"/>
            <a:ext cx="9753600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NVIDIA's Improvements to RISC-V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5" name="幻灯片编号">
            <a:extLst>
              <a:ext uri="{FF2B5EF4-FFF2-40B4-BE49-F238E27FC236}">
                <a16:creationId xmlns:a16="http://schemas.microsoft.com/office/drawing/2014/main" id="{62A1AA6F-E862-DA72-6266-B08CEEF3E689}"/>
              </a:ext>
            </a:extLst>
          </p:cNvPr>
          <p:cNvSpPr txBox="1">
            <a:spLocks noGrp="1"/>
          </p:cNvSpPr>
          <p:nvPr/>
        </p:nvSpPr>
        <p:spPr>
          <a:xfrm>
            <a:off x="10467260" y="6187968"/>
            <a:ext cx="504001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0CF8464-0A39-C8AA-F2EF-E73EF81A1467}"/>
              </a:ext>
            </a:extLst>
          </p:cNvPr>
          <p:cNvSpPr txBox="1"/>
          <p:nvPr/>
        </p:nvSpPr>
        <p:spPr>
          <a:xfrm>
            <a:off x="469753" y="1506748"/>
            <a:ext cx="11423015" cy="4681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 dirty="0">
                <a:solidFill>
                  <a:srgbClr val="0025AA"/>
                </a:solidFill>
              </a:rPr>
              <a:t> 4. In-Depth Customization of Compiler and Software Stack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5AA"/>
                </a:solidFill>
              </a:rPr>
              <a:t>• </a:t>
            </a:r>
            <a:r>
              <a:rPr lang="en-US" altLang="zh-CN" sz="2400" dirty="0"/>
              <a:t>Compiler Node Fusion:</a:t>
            </a:r>
          </a:p>
          <a:p>
            <a:pPr marL="457200" lvl="2">
              <a:lnSpc>
                <a:spcPct val="150000"/>
              </a:lnSpc>
            </a:pPr>
            <a:r>
              <a:rPr lang="en-US" altLang="zh-CN" sz="2400" dirty="0"/>
              <a:t>The compiler for DLA (Deep Learning Accelerator) has been enhanced to integrate multiple compute nodes into a single RVV (RISC-V Vector Extension) kernel. This means the compiler can automatically identify computational steps that can be merged, reducing kernel launch overhead and optimizing hardware computing efficiency</a:t>
            </a:r>
          </a:p>
        </p:txBody>
      </p:sp>
    </p:spTree>
    <p:extLst>
      <p:ext uri="{BB962C8B-B14F-4D97-AF65-F5344CB8AC3E}">
        <p14:creationId xmlns:p14="http://schemas.microsoft.com/office/powerpoint/2010/main" val="2648395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445EF-053C-A86A-682B-EDC51252C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als of the course">
            <a:extLst>
              <a:ext uri="{FF2B5EF4-FFF2-40B4-BE49-F238E27FC236}">
                <a16:creationId xmlns:a16="http://schemas.microsoft.com/office/drawing/2014/main" id="{E23D4939-C15B-3F6E-F351-99CDAAEB722C}"/>
              </a:ext>
            </a:extLst>
          </p:cNvPr>
          <p:cNvSpPr txBox="1">
            <a:spLocks noGrp="1"/>
          </p:cNvSpPr>
          <p:nvPr/>
        </p:nvSpPr>
        <p:spPr>
          <a:xfrm>
            <a:off x="676275" y="436245"/>
            <a:ext cx="9753600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NVIDIA's Improvements to RISC-V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5" name="幻灯片编号">
            <a:extLst>
              <a:ext uri="{FF2B5EF4-FFF2-40B4-BE49-F238E27FC236}">
                <a16:creationId xmlns:a16="http://schemas.microsoft.com/office/drawing/2014/main" id="{52362C2C-810A-80CE-28B5-DC5FB9221D71}"/>
              </a:ext>
            </a:extLst>
          </p:cNvPr>
          <p:cNvSpPr txBox="1">
            <a:spLocks noGrp="1"/>
          </p:cNvSpPr>
          <p:nvPr/>
        </p:nvSpPr>
        <p:spPr>
          <a:xfrm>
            <a:off x="10467260" y="6187968"/>
            <a:ext cx="504001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CABEE9F-5835-EF1D-5866-B0EB7D6C61FE}"/>
              </a:ext>
            </a:extLst>
          </p:cNvPr>
          <p:cNvSpPr txBox="1"/>
          <p:nvPr/>
        </p:nvSpPr>
        <p:spPr>
          <a:xfrm>
            <a:off x="469753" y="1506748"/>
            <a:ext cx="11423015" cy="4681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 dirty="0">
                <a:solidFill>
                  <a:srgbClr val="0025AA"/>
                </a:solidFill>
              </a:rPr>
              <a:t> 4. In-Depth Customization of Compiler and Software Stack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5AA"/>
                </a:solidFill>
              </a:rPr>
              <a:t>• </a:t>
            </a:r>
            <a:r>
              <a:rPr lang="en-US" altLang="zh-CN" sz="2400" dirty="0"/>
              <a:t>High-Security Language Support:</a:t>
            </a:r>
          </a:p>
          <a:p>
            <a:pPr marL="457200" lvl="2">
              <a:lnSpc>
                <a:spcPct val="150000"/>
              </a:lnSpc>
            </a:pPr>
            <a:r>
              <a:rPr lang="en-US" altLang="zh-CN" sz="2400" dirty="0"/>
              <a:t>To meet extremely high security standards, NVIDIA has adopted Ada/Spark compiler technology from </a:t>
            </a:r>
            <a:r>
              <a:rPr lang="en-US" altLang="zh-CN" sz="2400" dirty="0" err="1"/>
              <a:t>AdaCore</a:t>
            </a:r>
            <a:r>
              <a:rPr lang="en-US" altLang="zh-CN" sz="2400" dirty="0"/>
              <a:t>, which is used to implement high-security RISC-V firmware development and compiler certification</a:t>
            </a:r>
          </a:p>
        </p:txBody>
      </p:sp>
    </p:spTree>
    <p:extLst>
      <p:ext uri="{BB962C8B-B14F-4D97-AF65-F5344CB8AC3E}">
        <p14:creationId xmlns:p14="http://schemas.microsoft.com/office/powerpoint/2010/main" val="2745923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771</Words>
  <Application>Microsoft Office PowerPoint</Application>
  <PresentationFormat>宽屏</PresentationFormat>
  <Paragraphs>98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宋体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Miles</dc:creator>
  <cp:lastModifiedBy>Binhao Li</cp:lastModifiedBy>
  <cp:revision>9</cp:revision>
  <dcterms:created xsi:type="dcterms:W3CDTF">2023-08-09T12:44:00Z</dcterms:created>
  <dcterms:modified xsi:type="dcterms:W3CDTF">2025-12-04T07:48:43Z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C805EC3F36B6464EBDAC157166D278F2_12</vt:lpwstr>
  </property>
</Properties>
</file>