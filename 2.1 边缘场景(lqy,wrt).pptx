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3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01" autoAdjust="0"/>
    <p:restoredTop sz="57410"/>
  </p:normalViewPr>
  <p:slideViewPr>
    <p:cSldViewPr snapToGrid="0">
      <p:cViewPr varScale="1">
        <p:scale>
          <a:sx n="68" d="100"/>
          <a:sy n="68" d="100"/>
        </p:scale>
        <p:origin x="24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Edge Scenarios. We’ve selected the </a:t>
            </a:r>
            <a:r>
              <a:rPr lang="en-GB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Orbbec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Perceptor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AMR Kit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one of our cases.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system uses four 3D cameras powered by the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Jetson AGX Orin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guide industrial robots.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challenge here is balancing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complexity and reliability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Processing 360-degree 3D data requires high compute, but robots run on batteries and need to stop instantly for safety.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NVIDIA's RISC-V technology comes in—acting as a 'Hidden Controller' inside the chip to manage these critical constraints."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NVIDIA achieve this performance? They upgraded the architecture from the old Falcon to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NV-RISC-V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Technically, this brings three major improvements to our AMR case: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at the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Microarchitecture level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supports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Out-of-Order execution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allows the chip to handle the high-speed </a:t>
            </a:r>
            <a:r>
              <a:rPr lang="en-GB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Orbbec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 data much faster than before.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for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Acceleration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they added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1024-bit vector extensions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speeds up the heavy math needed for sensor processing.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the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Peregrine Subsystem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uses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IOPMP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technology. This strictly isolates the memory, ensuring that even if the main OS crashes, the robot's safety controls remain secure.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conclusion, the value here is transforming 'Lab AI' into 'Industrial AI'.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 Extensions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 the performance needed for real-time safety, while the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Optimized Firmware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ensures the stability needed for 24/7 operation.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acts as the backbone controller that makes the system rugged.</a:t>
            </a:r>
            <a:br>
              <a:rPr lang="en-GB" altLang="zh-CN" dirty="0"/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ahead, while RISC-V is currently a 'Hidden Helper', the trend suggests it could evolve into a </a:t>
            </a:r>
            <a:r>
              <a:rPr lang="en-GB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Processor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unifying control and AI tasks completely.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Product Overview: A rugged, agriculture-specific edge computing solution built on NVIDIA Jetson Orin Nano/NX, integrated with the NV-RISC-V subsystem.</a:t>
            </a:r>
            <a:endParaRPr lang="en-US" altLang="zh-CN"/>
          </a:p>
          <a:p>
            <a:r>
              <a:rPr lang="en-US" altLang="zh-CN"/>
              <a:t>Hardware Configuration: Combines high-resolution cameras (for crop monitoring), RTK-GNSS modules (for positioning), and ruggedized hardware (IP67 rating, -30~80</a:t>
            </a:r>
            <a:r>
              <a:rPr lang="" altLang="en-US"/>
              <a:t>℃</a:t>
            </a:r>
            <a:r>
              <a:rPr lang="en-US" altLang="zh-CN"/>
              <a:t> operating temperature, vibration resistance up to 1000G) to adapt to extreme farmland conditions.</a:t>
            </a:r>
            <a:endParaRPr lang="en-US" altLang="zh-CN"/>
          </a:p>
          <a:p>
            <a:r>
              <a:rPr lang="en-US" altLang="zh-CN"/>
              <a:t>Core Missions: Address two critical needs in agricultural automation:</a:t>
            </a:r>
            <a:endParaRPr lang="en-US" altLang="zh-CN"/>
          </a:p>
          <a:p>
            <a:r>
              <a:rPr lang="en-US" altLang="zh-CN"/>
              <a:t>Real-time crop pest and disease detection for farm robots, with local processing of high-resolution image data (8MB/frame) to eliminate network dependency in remote farmlands.</a:t>
            </a:r>
            <a:endParaRPr lang="en-US" altLang="zh-CN"/>
          </a:p>
          <a:p>
            <a:r>
              <a:rPr lang="en-US" altLang="zh-CN"/>
              <a:t>Centimeter-level positioning and low-latency trajectory control for agricultural machinery, enabling precise sowing, fertilization, and harvesting without cloud-based positioning delays.</a:t>
            </a:r>
            <a:endParaRPr lang="en-US" altLang="zh-CN"/>
          </a:p>
          <a:p>
            <a:r>
              <a:rPr lang="en-US" altLang="zh-CN"/>
              <a:t>Key Edge Challenges Addressed:</a:t>
            </a:r>
            <a:endParaRPr lang="en-US" altLang="zh-CN"/>
          </a:p>
          <a:p>
            <a:r>
              <a:rPr lang="en-US" altLang="zh-CN"/>
              <a:t>Lack of reliable 4G/5G connectivity in remote areas, requiring standalone data processing.</a:t>
            </a:r>
            <a:endParaRPr lang="en-US" altLang="zh-CN"/>
          </a:p>
          <a:p>
            <a:r>
              <a:rPr lang="en-US" altLang="zh-CN"/>
              <a:t>Demand for millisecond-level response to avoid trajectory deviations during machinery operation (5km/h).</a:t>
            </a:r>
            <a:endParaRPr lang="en-US" altLang="zh-CN"/>
          </a:p>
          <a:p>
            <a:r>
              <a:rPr lang="en-US" altLang="zh-CN"/>
              <a:t>Strict power constraints for battery-powered electric agricultural equipment, needing low-power computing for 7</a:t>
            </a:r>
            <a:r>
              <a:rPr lang="en-US" altLang="en-US"/>
              <a:t>×</a:t>
            </a:r>
            <a:r>
              <a:rPr lang="en-US" altLang="zh-CN"/>
              <a:t>24h continuous work.</a:t>
            </a:r>
            <a:endParaRPr lang="en-US" altLang="zh-CN"/>
          </a:p>
          <a:p>
            <a:r>
              <a:rPr lang="en-US" altLang="zh-CN"/>
              <a:t>Overwhelming concurrent data from cameras and RTK modules, requiring efficient distribution and processing.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Microarchitecture Innovation: Out-of-Order Execution:</a:t>
            </a:r>
            <a:endParaRPr lang="en-US" altLang="zh-CN"/>
          </a:p>
          <a:p>
            <a:r>
              <a:rPr lang="en-US" altLang="zh-CN"/>
              <a:t>Replacing legacy architectures with NV-RISC-V’s out-of-order execution design significantly boosts instruction throughput, enabling zero-latency reception and distribution of high-speed camera data (120MB/s). This eliminates lags in the "image capture-preprocessing" pipeline, ensuring a smooth 18 FPS for pest and disease detection—critical for real-time decision-making in dynamic farm operations.</a:t>
            </a:r>
            <a:endParaRPr lang="en-US" altLang="zh-CN"/>
          </a:p>
          <a:p>
            <a:r>
              <a:rPr lang="en-US" altLang="zh-CN"/>
              <a:t>Hardware Acceleration: 1024-bit Vector Extensions:</a:t>
            </a:r>
            <a:endParaRPr lang="en-US" altLang="zh-CN"/>
          </a:p>
          <a:p>
            <a:r>
              <a:rPr lang="en-US" altLang="zh-CN"/>
              <a:t>Tailored for math-intensive tasks, the 1024-bit vector extensions accelerate image preprocessing (including denoising, ROI cropping, and format conversion) by 3x compared to traditional scalar computing. By offloading these tedious tasks to RISC-V, the Jetson GPU is freed up to focus on AI inference, achieving a 98.2% accuracy rate for pest and disease recognition.</a:t>
            </a:r>
            <a:endParaRPr lang="en-US" altLang="zh-CN"/>
          </a:p>
          <a:p>
            <a:r>
              <a:rPr lang="en-US" altLang="zh-CN"/>
              <a:t>Dual Advantages: Safety Isolation + Low-Power Optimization:</a:t>
            </a:r>
            <a:endParaRPr lang="en-US" altLang="zh-CN"/>
          </a:p>
          <a:p>
            <a:r>
              <a:rPr lang="en-US" altLang="zh-CN"/>
              <a:t>Safety via IOPMP: The Input/Output Physical Memory Protection (IOPMP) feature strictly isolates the positioning and control link from the main system, preventing machinery malfunctions or </a:t>
            </a:r>
            <a:r>
              <a:rPr lang="zh-CN" altLang="en-US"/>
              <a:t>失控</a:t>
            </a:r>
            <a:r>
              <a:rPr lang="en-US" altLang="zh-CN"/>
              <a:t> caused by OS crashes or AI model anomalies—ensuring compliance with agricultural machinery safety standards (e.g., ISO 15066).</a:t>
            </a:r>
            <a:endParaRPr lang="en-US" altLang="zh-CN"/>
          </a:p>
          <a:p>
            <a:r>
              <a:rPr lang="en-US" altLang="zh-CN"/>
              <a:t>Ultra-Low Power Consumption: Modular ISA trimming (retaining only core functional instructions) reduces the NV-RISC-V subsystem’s power draw to just 0.3W (1/10 of the main CPU’s power consumption), extending the runtime of battery-powered agricultural equipment by 25% (from 8 hours to 10 hours) for all-day operations.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Proven Application Value (Data-Driven Results):</a:t>
            </a:r>
            <a:endParaRPr lang="en-US" altLang="zh-CN"/>
          </a:p>
          <a:p>
            <a:r>
              <a:rPr lang="en-US" altLang="zh-CN"/>
              <a:t>Pest/Disease Detection: Early-stage identification of lesions smaller than 2mm with network-independent local processing reduces pesticide usage by 65% and cuts crop loss rates from 15% to 5%.</a:t>
            </a:r>
            <a:endParaRPr lang="en-US" altLang="zh-CN"/>
          </a:p>
          <a:p>
            <a:r>
              <a:rPr lang="en-US" altLang="zh-CN"/>
              <a:t>Centimeter-Level Positioning: </a:t>
            </a:r>
            <a:r>
              <a:rPr lang="en-US" altLang="en-US"/>
              <a:t>±</a:t>
            </a:r>
            <a:r>
              <a:rPr lang="en-US" altLang="zh-CN"/>
              <a:t>2cm positioning accuracy reduces agricultural machinery trajectory repetition by 80%, improving seed utilization by 15% and boosting corn/cotton yields by 12%~15%.</a:t>
            </a:r>
            <a:endParaRPr lang="en-US" altLang="zh-CN"/>
          </a:p>
          <a:p>
            <a:r>
              <a:rPr lang="en-US" altLang="zh-CN"/>
              <a:t>Operational Efficiency: Supports 7</a:t>
            </a:r>
            <a:r>
              <a:rPr lang="en-US" altLang="en-US"/>
              <a:t>×</a:t>
            </a:r>
            <a:r>
              <a:rPr lang="en-US" altLang="zh-CN"/>
              <a:t>24h continuous work in harsh farmland conditions, reducing manual intervention and lowering labor costs by 40% for large-scale farms.</a:t>
            </a:r>
            <a:endParaRPr lang="en-US" altLang="zh-CN"/>
          </a:p>
          <a:p>
            <a:r>
              <a:rPr lang="en-US" altLang="zh-CN"/>
              <a:t>Core Advantages of NVIDIA RISC-V in Agriculture:</a:t>
            </a:r>
            <a:endParaRPr lang="en-US" altLang="zh-CN"/>
          </a:p>
          <a:p>
            <a:r>
              <a:rPr lang="en-US" altLang="zh-CN"/>
              <a:t>Real-Time Performance: End-to-end latency under 20ms adapts to dynamic agricultural machinery operations.</a:t>
            </a:r>
            <a:endParaRPr lang="en-US" altLang="zh-CN"/>
          </a:p>
          <a:p>
            <a:r>
              <a:rPr lang="en-US" altLang="zh-CN"/>
              <a:t>Computational Synergy: Seamless collaboration with Jetson GPU balances efficiency, accuracy, and cost.</a:t>
            </a:r>
            <a:endParaRPr lang="en-US" altLang="zh-CN"/>
          </a:p>
          <a:p>
            <a:r>
              <a:rPr lang="en-US" altLang="zh-CN"/>
              <a:t>Safety &amp; Reliability: Hardware-level isolation ensures stable operation in extreme environments and system failures.</a:t>
            </a:r>
            <a:endParaRPr lang="en-US" altLang="zh-CN"/>
          </a:p>
          <a:p>
            <a:r>
              <a:rPr lang="en-US" altLang="zh-CN"/>
              <a:t>Low-Power Adaptability: Ideal for battery-powered edge devices in remote agricultural settings.</a:t>
            </a:r>
            <a:endParaRPr lang="en-US" altLang="zh-CN"/>
          </a:p>
          <a:p>
            <a:r>
              <a:rPr lang="en-US" altLang="zh-CN"/>
              <a:t>Future Development Trajectory:</a:t>
            </a:r>
            <a:endParaRPr lang="en-US" altLang="zh-CN"/>
          </a:p>
          <a:p>
            <a:r>
              <a:rPr lang="en-US" altLang="zh-CN"/>
              <a:t>Short-Term: Become the standard control subsystem for NVIDIA Jetson’s agricultural edge product line, expanding coverage to full agricultural workflows (sowing, fertilization, weeding, harvesting).</a:t>
            </a:r>
            <a:endParaRPr lang="en-US" altLang="zh-CN"/>
          </a:p>
          <a:p>
            <a:r>
              <a:rPr lang="en-US" altLang="zh-CN"/>
              <a:t>Long-Term: As the RISC-V ecosystem matures, evolve from a "hidden helper" to a primary processor for low-power agricultural edge devices, reducing hardware costs by 30%+ and enabling wider adoption among small-to-medium farms.</a:t>
            </a:r>
            <a:endParaRPr lang="en-US" altLang="zh-CN"/>
          </a:p>
          <a:p>
            <a:r>
              <a:rPr lang="en-US" altLang="zh-CN"/>
              <a:t>Industry Impact: Accelerate the transformation of traditional agriculture to smart precision agriculture, driving sustainability through reduced resource waste (pesticides, seeds, energy) and improved productivity.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/>
          <p:cNvSpPr txBox="1">
            <a:spLocks noGrp="1"/>
          </p:cNvSpPr>
          <p:nvPr/>
        </p:nvSpPr>
        <p:spPr>
          <a:xfrm>
            <a:off x="147636" y="35031"/>
            <a:ext cx="11896725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GB" altLang="zh-CN" sz="3600" dirty="0">
                <a:ea typeface="宋体" panose="02010600030101010101" pitchFamily="2" charset="-122"/>
              </a:rPr>
              <a:t>Edge Case: </a:t>
            </a:r>
            <a:r>
              <a:rPr lang="en-GB" altLang="zh-CN" sz="3600" dirty="0" err="1">
                <a:ea typeface="宋体" panose="02010600030101010101" pitchFamily="2" charset="-122"/>
              </a:rPr>
              <a:t>Orbbec</a:t>
            </a:r>
            <a:r>
              <a:rPr lang="en-GB" altLang="zh-CN" sz="3600" dirty="0">
                <a:ea typeface="宋体" panose="02010600030101010101" pitchFamily="2" charset="-122"/>
              </a:rPr>
              <a:t> </a:t>
            </a:r>
            <a:r>
              <a:rPr lang="en-GB" altLang="zh-CN" sz="3600" dirty="0" err="1">
                <a:ea typeface="宋体" panose="02010600030101010101" pitchFamily="2" charset="-122"/>
              </a:rPr>
              <a:t>Perceptor</a:t>
            </a:r>
            <a:r>
              <a:rPr lang="en-GB" altLang="zh-CN" sz="3600" dirty="0">
                <a:ea typeface="宋体" panose="02010600030101010101" pitchFamily="2" charset="-122"/>
              </a:rPr>
              <a:t> AMR Kit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/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0" y="664248"/>
            <a:ext cx="12192000" cy="63307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altLang="zh-CN" sz="2800" b="1" dirty="0">
                <a:solidFill>
                  <a:srgbClr val="0025AA"/>
                </a:solidFill>
              </a:rPr>
              <a:t>The Subject: </a:t>
            </a:r>
            <a:r>
              <a:rPr lang="en-GB" altLang="zh-CN" sz="2800" b="1" dirty="0" err="1">
                <a:solidFill>
                  <a:srgbClr val="0025AA"/>
                </a:solidFill>
              </a:rPr>
              <a:t>Orbbec</a:t>
            </a:r>
            <a:r>
              <a:rPr lang="en-GB" altLang="zh-CN" sz="2800" b="1" dirty="0">
                <a:solidFill>
                  <a:srgbClr val="0025AA"/>
                </a:solidFill>
              </a:rPr>
              <a:t> </a:t>
            </a:r>
            <a:r>
              <a:rPr lang="en-GB" altLang="zh-CN" sz="2800" b="1" dirty="0" err="1">
                <a:solidFill>
                  <a:srgbClr val="0025AA"/>
                </a:solidFill>
              </a:rPr>
              <a:t>Perceptor</a:t>
            </a:r>
            <a:r>
              <a:rPr lang="en-GB" altLang="zh-CN" sz="2800" b="1" dirty="0">
                <a:solidFill>
                  <a:srgbClr val="0025AA"/>
                </a:solidFill>
              </a:rPr>
              <a:t> Developer Kit</a:t>
            </a:r>
            <a:endParaRPr lang="en-US" altLang="zh-CN" sz="2800" b="1" dirty="0">
              <a:solidFill>
                <a:srgbClr val="0025AA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Hardware: 3D Cameras (Gemini 335L) + NVIDIA Jetson AGX Orin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Goal: Enabling full 3D perception for industrial robots (AMRs)</a:t>
            </a:r>
            <a:endParaRPr lang="en-GB" altLang="zh-CN" sz="2400" dirty="0"/>
          </a:p>
          <a:p>
            <a:pPr>
              <a:lnSpc>
                <a:spcPct val="150000"/>
              </a:lnSpc>
              <a:defRPr/>
            </a:pPr>
            <a:r>
              <a:rPr kumimoji="0" lang="en-GB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5AA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The Edge Challenge: Reliability vs. Complexity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5AA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Data Overload: Multi-camera streams create massive bandwidth pressure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Battery Constraint: Industrial AMRs operate 7×24h on limited battery power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Safety Critical: Requires deterministic latency (milliseconds) for obstacle avoidance</a:t>
            </a:r>
            <a:endParaRPr lang="en-GB" altLang="zh-CN" sz="2400" dirty="0"/>
          </a:p>
          <a:p>
            <a:pPr>
              <a:lnSpc>
                <a:spcPct val="150000"/>
              </a:lnSpc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The Role of RISC-V</a:t>
            </a:r>
            <a:endParaRPr lang="en-US" altLang="zh-CN" sz="2800" b="1" dirty="0">
              <a:solidFill>
                <a:srgbClr val="0025AA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It acts as the "Hidden Controller" inside Jetson Orin to solve these bottlenecks without burdening the main CPU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endParaRPr lang="en-GB" altLang="zh-CN" sz="2000" dirty="0"/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</p:txBody>
      </p:sp>
      <p:pic>
        <p:nvPicPr>
          <p:cNvPr id="2" name="图片 1" descr="电子仪器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81" y="836949"/>
            <a:ext cx="3167293" cy="2100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/>
          <p:cNvSpPr txBox="1">
            <a:spLocks noGrp="1"/>
          </p:cNvSpPr>
          <p:nvPr/>
        </p:nvSpPr>
        <p:spPr>
          <a:xfrm>
            <a:off x="147636" y="35031"/>
            <a:ext cx="11896725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GB" altLang="zh-CN" sz="3600" dirty="0">
                <a:ea typeface="宋体" panose="02010600030101010101" pitchFamily="2" charset="-122"/>
              </a:rPr>
              <a:t>The Engine: RISC-V Architecture</a:t>
            </a:r>
            <a:r>
              <a:rPr lang="zh-CN" altLang="en-US" sz="3600" dirty="0">
                <a:ea typeface="宋体" panose="02010600030101010101" pitchFamily="2" charset="-122"/>
              </a:rPr>
              <a:t> </a:t>
            </a:r>
            <a:r>
              <a:rPr lang="en-GB" altLang="zh-CN" sz="3600" dirty="0">
                <a:ea typeface="宋体" panose="02010600030101010101" pitchFamily="2" charset="-122"/>
              </a:rPr>
              <a:t>in Orin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/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0" y="646449"/>
            <a:ext cx="12192000" cy="63307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altLang="zh-CN" sz="2800" b="1" dirty="0">
                <a:solidFill>
                  <a:srgbClr val="0025AA"/>
                </a:solidFill>
              </a:rPr>
              <a:t>Microarchitecture Upgrade (vs. Falcon)</a:t>
            </a:r>
            <a:endParaRPr lang="en-US" altLang="zh-CN" sz="2800" b="1" dirty="0">
              <a:solidFill>
                <a:srgbClr val="0025AA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Replaced legacy Falcon with NV-RISC-V featuring Out-of-Order execution.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Impact: Significantly improves instruction throughput to handle high-speed Camera I/O with zero latency</a:t>
            </a:r>
            <a:endParaRPr lang="en-GB" altLang="zh-CN" sz="2400" dirty="0"/>
          </a:p>
          <a:p>
            <a:pPr>
              <a:lnSpc>
                <a:spcPct val="150000"/>
              </a:lnSpc>
              <a:defRPr/>
            </a:pPr>
            <a:r>
              <a:rPr kumimoji="0" lang="en-GB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5AA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Hardware Acceleration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5AA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1024-bit Vector Extensions: Accelerates math-heavy sensor data processing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DLA Integration: Tightly couples with specialized modules to optimize AI inference scheduling</a:t>
            </a:r>
            <a:endParaRPr lang="en-GB" altLang="zh-CN" sz="2400" dirty="0"/>
          </a:p>
          <a:p>
            <a:pPr>
              <a:lnSpc>
                <a:spcPct val="150000"/>
              </a:lnSpc>
              <a:defRPr/>
            </a:pPr>
            <a:r>
              <a:rPr kumimoji="0" lang="en-GB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5AA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System Security (Peregrine Subsystem)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5AA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IOPMP (Input/Output PMP): Ensures strict memory isolation for safety-critical tasks</a:t>
            </a: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Impact: Protects the robot's control logic from OS crashes or physical attacks</a:t>
            </a: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  <a:defRPr/>
            </a:pPr>
            <a:endParaRPr kumimoji="0" lang="en-GB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als of the course"/>
          <p:cNvSpPr txBox="1">
            <a:spLocks noGrp="1"/>
          </p:cNvSpPr>
          <p:nvPr/>
        </p:nvSpPr>
        <p:spPr>
          <a:xfrm>
            <a:off x="147636" y="35031"/>
            <a:ext cx="11896725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GB" altLang="zh-CN" sz="3600" dirty="0">
                <a:ea typeface="宋体" panose="02010600030101010101" pitchFamily="2" charset="-122"/>
              </a:rPr>
              <a:t>Value: Enabling Industrial-Grade Edge AI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5" name="幻灯片编号"/>
          <p:cNvSpPr txBox="1">
            <a:spLocks noGrp="1"/>
          </p:cNvSpPr>
          <p:nvPr/>
        </p:nvSpPr>
        <p:spPr>
          <a:xfrm>
            <a:off x="10467260" y="6187968"/>
            <a:ext cx="504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-2" y="527262"/>
            <a:ext cx="12192000" cy="63307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GB" altLang="zh-CN" sz="2800" b="1" dirty="0">
                <a:solidFill>
                  <a:srgbClr val="0025AA"/>
                </a:solidFill>
              </a:rPr>
              <a:t>Value to the Case (</a:t>
            </a:r>
            <a:r>
              <a:rPr lang="en-GB" altLang="zh-CN" sz="2800" b="1" dirty="0" err="1">
                <a:solidFill>
                  <a:srgbClr val="0025AA"/>
                </a:solidFill>
              </a:rPr>
              <a:t>Orbbec</a:t>
            </a:r>
            <a:r>
              <a:rPr lang="en-GB" altLang="zh-CN" sz="2800" b="1" dirty="0">
                <a:solidFill>
                  <a:srgbClr val="0025AA"/>
                </a:solidFill>
              </a:rPr>
              <a:t>/AMR)</a:t>
            </a:r>
            <a:endParaRPr lang="en-US" altLang="zh-CN" sz="2800" b="1" dirty="0">
              <a:solidFill>
                <a:srgbClr val="0025AA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Performance: High-throughput vector computation ensures millisecond-level obstacle</a:t>
            </a:r>
            <a:r>
              <a:rPr lang="zh-CN" altLang="en-US" sz="2400" dirty="0"/>
              <a:t> </a:t>
            </a:r>
            <a:r>
              <a:rPr lang="en-GB" altLang="zh-CN" sz="2400" dirty="0"/>
              <a:t>avoidance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Stability:  Optimized Firmware</a:t>
            </a:r>
            <a:r>
              <a:rPr lang="zh-CN" altLang="en-US" sz="2400" dirty="0"/>
              <a:t> </a:t>
            </a:r>
            <a:r>
              <a:rPr lang="en-GB" altLang="zh-CN" sz="2400" dirty="0"/>
              <a:t>on RISC-V manages power states for 7×24h operation</a:t>
            </a:r>
            <a:endParaRPr lang="en-GB" altLang="zh-CN" sz="2400" dirty="0"/>
          </a:p>
          <a:p>
            <a:pPr>
              <a:lnSpc>
                <a:spcPct val="150000"/>
              </a:lnSpc>
              <a:defRPr/>
            </a:pPr>
            <a:r>
              <a:rPr kumimoji="0" lang="en-GB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5AA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Industry Takeaway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25AA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RISC-V serves as the "Backbone Controller" that makes high-performance AI reliable enough for factories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Unified architecture allows easy migration across NVIDIA's entire edge product line</a:t>
            </a:r>
            <a:endParaRPr lang="en-GB" altLang="zh-CN" sz="2400" dirty="0"/>
          </a:p>
          <a:p>
            <a:pPr>
              <a:lnSpc>
                <a:spcPct val="150000"/>
              </a:lnSpc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Future Outlook</a:t>
            </a:r>
            <a:endParaRPr lang="en-US" altLang="zh-CN" sz="2800" b="1" dirty="0">
              <a:solidFill>
                <a:srgbClr val="0025AA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GB" altLang="zh-CN" sz="2400" dirty="0"/>
              <a:t>As the ecosystem matures, RISC-V may evolve from a "Hidden Helper" to a Main Processor for future low-power edge devices</a:t>
            </a:r>
            <a:endParaRPr lang="en-GB" altLang="zh-CN" sz="2400" dirty="0"/>
          </a:p>
          <a:p>
            <a:pPr indent="457200">
              <a:lnSpc>
                <a:spcPct val="150000"/>
              </a:lnSpc>
            </a:pPr>
            <a:endParaRPr lang="en-GB" altLang="zh-CN" sz="2000" dirty="0"/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GB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  <a:p>
            <a:pPr indent="457200">
              <a:lnSpc>
                <a:spcPct val="150000"/>
              </a:lnSpc>
            </a:pP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/>
    </mc:Choice>
    <mc:Fallback>
      <p:transition spd="slow"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9725" y="863600"/>
            <a:ext cx="11704320" cy="5645150"/>
          </a:xfrm>
        </p:spPr>
        <p:txBody>
          <a:bodyPr>
            <a:noAutofit/>
          </a:bodyPr>
          <a:p>
            <a:pPr marL="0" algn="l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060"/>
                </a:solidFill>
              </a:rPr>
              <a:t>Syslogic AI Vehicle Computer RM A2N: Agricultural Automation Enabler</a:t>
            </a:r>
            <a:endParaRPr lang="en-GB" altLang="zh-CN" sz="2800" b="1" dirty="0">
              <a:solidFill>
                <a:srgbClr val="002060"/>
              </a:solidFill>
            </a:endParaRPr>
          </a:p>
          <a:p>
            <a:pPr marL="0"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n-GB" altLang="zh-CN" sz="2800" dirty="0">
                <a:solidFill>
                  <a:srgbClr val="002060"/>
                </a:solidFill>
              </a:rPr>
              <a:t>Rugged edge computer based on NVIDIA Jetson Orin + NV-RISC-V</a:t>
            </a:r>
            <a:endParaRPr lang="en-GB" altLang="zh-CN" sz="2800" dirty="0">
              <a:solidFill>
                <a:srgbClr val="002060"/>
              </a:solidFill>
            </a:endParaRPr>
          </a:p>
          <a:p>
            <a:pPr marL="0" algn="l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Hardware Highlights: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 High-res cameras + RTK-GNSS module</a:t>
            </a:r>
            <a:endParaRPr lang="en-GB" altLang="zh-CN" sz="2400" dirty="0"/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 IP67 / -30~80℃ / Anti-vibration (1000G)</a:t>
            </a:r>
            <a:endParaRPr lang="en-GB" altLang="zh-CN" sz="2400" dirty="0"/>
          </a:p>
          <a:p>
            <a:pPr marL="0" algn="l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Key Missions: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Real-time pest/disease detection (network-independent)</a:t>
            </a:r>
            <a:endParaRPr lang="en-GB" altLang="zh-CN" sz="2400" dirty="0"/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Centimeter-level positioning for agricultural machinery</a:t>
            </a:r>
            <a:endParaRPr lang="en-GB" altLang="zh-CN" sz="2400" dirty="0"/>
          </a:p>
          <a:p>
            <a:pPr marL="0" algn="l" fontAlgn="auto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Solved Edge Pain Points: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No 4G/5G in remote farmlands</a:t>
            </a:r>
            <a:endParaRPr lang="en-GB" altLang="zh-CN" sz="2400" dirty="0"/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Millisecond-level latency demand</a:t>
            </a:r>
            <a:endParaRPr lang="en-GB" altLang="zh-CN" sz="2400" dirty="0"/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Battery &amp; harsh environment constraints</a:t>
            </a:r>
            <a:endParaRPr lang="en-GB" altLang="zh-CN" sz="2400" dirty="0"/>
          </a:p>
          <a:p>
            <a:pPr marL="0" indent="457200" algn="l">
              <a:lnSpc>
                <a:spcPct val="90000"/>
              </a:lnSpc>
              <a:buClrTx/>
              <a:buSzTx/>
            </a:pPr>
            <a:r>
              <a:rPr lang="en-GB" altLang="zh-CN" sz="2400" dirty="0"/>
              <a:t>Multi-source data overload</a:t>
            </a:r>
            <a:endParaRPr lang="en-GB" altLang="zh-CN" sz="2400" dirty="0"/>
          </a:p>
        </p:txBody>
      </p:sp>
      <p:sp>
        <p:nvSpPr>
          <p:cNvPr id="4" name="Goals of the course"/>
          <p:cNvSpPr txBox="1">
            <a:spLocks noGrp="1"/>
          </p:cNvSpPr>
          <p:nvPr/>
        </p:nvSpPr>
        <p:spPr>
          <a:xfrm>
            <a:off x="147636" y="35031"/>
            <a:ext cx="11896725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>
                <a:sym typeface="+mn-ea"/>
              </a:rPr>
              <a:t>Edge Case - Syslogic Agricultural Edge Computer</a:t>
            </a:r>
            <a:endParaRPr lang="en-US" altLang="zh-CN" sz="3600"/>
          </a:p>
          <a:p>
            <a:endParaRPr lang="zh-CN" altLang="en-US" sz="3600" dirty="0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4552315"/>
            <a:ext cx="5768340" cy="18859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860" y="1791970"/>
            <a:ext cx="3459480" cy="2593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9725" y="863600"/>
            <a:ext cx="11704320" cy="5645150"/>
          </a:xfrm>
        </p:spPr>
        <p:txBody>
          <a:bodyPr>
            <a:noAutofit/>
          </a:bodyPr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Microarchitecture Upgrade: Out-of-Order Execution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Zero-latency processing of camera data (120MB/s)</a:t>
            </a:r>
            <a:endParaRPr lang="en-GB" altLang="zh-CN" sz="2400" dirty="0"/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Hardware Acceleration: 1024-bit Vector Extensions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3x faster image preprocessing (denoising/ROI cropping)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Frees GPU for AI inference (98.2% accuracy)</a:t>
            </a:r>
            <a:endParaRPr lang="en-GB" altLang="zh-CN" sz="2400" dirty="0"/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Dual Advantages: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IOPMP Safety Isolation → Prevents machinery malfunction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0.3W Ultra-low Power → 25% longer equipment runtime</a:t>
            </a:r>
            <a:endParaRPr lang="en-GB" altLang="zh-CN" sz="2400" dirty="0"/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Key Innovation: 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Synergistic Computing (RISC-V + Jetson GPU)</a:t>
            </a:r>
            <a:endParaRPr lang="en-GB" altLang="zh-CN" sz="2400" dirty="0"/>
          </a:p>
        </p:txBody>
      </p:sp>
      <p:sp>
        <p:nvSpPr>
          <p:cNvPr id="4" name="Goals of the course"/>
          <p:cNvSpPr txBox="1">
            <a:spLocks noGrp="1"/>
          </p:cNvSpPr>
          <p:nvPr/>
        </p:nvSpPr>
        <p:spPr>
          <a:xfrm>
            <a:off x="147636" y="35031"/>
            <a:ext cx="11896725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/>
              <a:t>The Engine for Agricultural Edge Intelligence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9725" y="863600"/>
            <a:ext cx="11704320" cy="5645150"/>
          </a:xfrm>
        </p:spPr>
        <p:txBody>
          <a:bodyPr>
            <a:noAutofit/>
          </a:bodyPr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Proven Value (Data-Driven):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Pesticide usage reduced by 65%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Crop yield improved by 12%~15%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±2cm positioning accuracy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7×24h stable operation in harsh environments</a:t>
            </a:r>
            <a:endParaRPr lang="en-GB" altLang="zh-CN" sz="2400" dirty="0"/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Core Advantages: 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Real-time performance, synergy, safety, low power</a:t>
            </a:r>
            <a:endParaRPr lang="en-GB" altLang="zh-CN" sz="2400" dirty="0"/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GB" altLang="zh-CN" sz="2800" b="1" dirty="0">
                <a:solidFill>
                  <a:srgbClr val="0025AA"/>
                </a:solidFill>
              </a:rPr>
              <a:t>Future Trajectory:</a:t>
            </a:r>
            <a:endParaRPr lang="en-GB" altLang="zh-CN" sz="2800" b="1" dirty="0">
              <a:solidFill>
                <a:srgbClr val="0025AA"/>
              </a:solidFill>
            </a:endParaRPr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Short-term: Standard control subsystem for Jetson agricultural devices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Long-term: Evolve to primary processor (30%+ cost reduction)</a:t>
            </a:r>
            <a:endParaRPr lang="en-GB" altLang="zh-CN" sz="2400" dirty="0"/>
          </a:p>
          <a:p>
            <a:pPr marL="0" indent="457200" algn="l">
              <a:lnSpc>
                <a:spcPct val="110000"/>
              </a:lnSpc>
              <a:spcBef>
                <a:spcPts val="1000"/>
              </a:spcBef>
              <a:buClrTx/>
              <a:buSzTx/>
            </a:pPr>
            <a:r>
              <a:rPr lang="en-GB" altLang="zh-CN" sz="2400" dirty="0"/>
              <a:t>Industry Impact: Drive precision agriculture adoption for small-to-medium farms</a:t>
            </a:r>
            <a:endParaRPr lang="en-GB" altLang="zh-CN" sz="2400" dirty="0"/>
          </a:p>
        </p:txBody>
      </p:sp>
      <p:sp>
        <p:nvSpPr>
          <p:cNvPr id="4" name="Goals of the course"/>
          <p:cNvSpPr txBox="1">
            <a:spLocks noGrp="1"/>
          </p:cNvSpPr>
          <p:nvPr/>
        </p:nvSpPr>
        <p:spPr>
          <a:xfrm>
            <a:off x="147636" y="35031"/>
            <a:ext cx="11896725" cy="546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 strike="noStrike" cap="none" spc="0" baseline="0">
                <a:solidFill>
                  <a:srgbClr val="0025AA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"/>
              </a:defRPr>
            </a:lvl9pPr>
          </a:lstStyle>
          <a:p>
            <a:r>
              <a:rPr lang="en-US" altLang="zh-CN" sz="3600"/>
              <a:t>Value &amp; Outlook: Scaling Precision Agriculture</a:t>
            </a:r>
            <a:endParaRPr lang="en-GB" altLang="zh-CN" sz="2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3326</Words>
  <Application>WPS 演示</Application>
  <PresentationFormat>宽屏</PresentationFormat>
  <Paragraphs>104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Helvetica</vt:lpstr>
      <vt:lpstr>Calibri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小羊Diana</cp:lastModifiedBy>
  <cp:revision>16</cp:revision>
  <dcterms:created xsi:type="dcterms:W3CDTF">2023-08-09T12:44:00Z</dcterms:created>
  <dcterms:modified xsi:type="dcterms:W3CDTF">2025-12-05T17:48:52Z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4ED1B2388B0E4EC1BC1CF7F0C3CD0953_13</vt:lpwstr>
  </property>
</Properties>
</file>